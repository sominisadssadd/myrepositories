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5" r:id="rId8"/>
    <p:sldId id="261" r:id="rId9"/>
    <p:sldId id="266" r:id="rId10"/>
    <p:sldId id="267" r:id="rId11"/>
    <p:sldId id="26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6888ED-1BB1-4D9C-BD57-28DF2504367B}" v="1411" dt="2023-01-18T07:00:36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 fontScale="90000"/>
          </a:bodyPr>
          <a:lstStyle/>
          <a:p>
            <a:r>
              <a:rPr lang="ru-RU" sz="4700" dirty="0">
                <a:cs typeface="Calibri Light"/>
              </a:rPr>
              <a:t>Презентация</a:t>
            </a:r>
            <a:br>
              <a:rPr lang="ru-RU" sz="4700" b="1" dirty="0">
                <a:cs typeface="Calibri Light"/>
              </a:rPr>
            </a:br>
            <a:r>
              <a:rPr lang="ru-RU" sz="4700" dirty="0">
                <a:cs typeface="Calibri Light"/>
              </a:rPr>
              <a:t>Модели жизненного цикла ПО</a:t>
            </a:r>
            <a:br>
              <a:rPr lang="ru-RU" sz="4700" dirty="0">
                <a:cs typeface="Calibri Light"/>
              </a:rPr>
            </a:br>
            <a:endParaRPr lang="ru-RU" sz="4700">
              <a:cs typeface="Calibri Light"/>
            </a:endParaRPr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8A790-0C12-382C-8870-CDB9611D59EE}"/>
              </a:ext>
            </a:extLst>
          </p:cNvPr>
          <p:cNvSpPr txBox="1"/>
          <p:nvPr/>
        </p:nvSpPr>
        <p:spPr>
          <a:xfrm>
            <a:off x="6683827" y="4169228"/>
            <a:ext cx="22206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Выполнили: Никитин Ярослав, </a:t>
            </a:r>
          </a:p>
          <a:p>
            <a:r>
              <a:rPr lang="ru-RU" dirty="0" err="1">
                <a:cs typeface="Calibri"/>
              </a:rPr>
              <a:t>Хизбуллин</a:t>
            </a:r>
            <a:r>
              <a:rPr lang="ru-RU" dirty="0">
                <a:cs typeface="Calibri"/>
              </a:rPr>
              <a:t> Артур</a:t>
            </a: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00DDE-38C5-432E-42D4-0CA3C16A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cs typeface="Calibri Light"/>
              </a:rPr>
              <a:t>Модели жизненного цикла</a:t>
            </a:r>
          </a:p>
        </p:txBody>
      </p:sp>
      <p:sp>
        <p:nvSpPr>
          <p:cNvPr id="1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F5EB3D-874F-19C3-B0EC-8F696E5E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dirty="0">
                <a:ea typeface="+mn-lt"/>
                <a:cs typeface="+mn-lt"/>
              </a:rPr>
              <a:t>Модели жизненного цикла - это структура, определяющая последовательность выполнения и взаимосвязи процессов, действий и задач на протяжении ЖЦ. </a:t>
            </a:r>
            <a:endParaRPr lang="ru-RU">
              <a:ea typeface="+mn-lt"/>
              <a:cs typeface="+mn-lt"/>
            </a:endParaRPr>
          </a:p>
          <a:p>
            <a:pPr>
              <a:buNone/>
            </a:pPr>
            <a:r>
              <a:rPr lang="ru-RU" dirty="0">
                <a:cs typeface="Calibri" panose="020F0502020204030204"/>
              </a:rPr>
              <a:t>Существует много моделей жизненного цикла, но среди них можно</a:t>
            </a:r>
            <a:endParaRPr lang="ru-RU">
              <a:cs typeface="Calibri" panose="020F0502020204030204"/>
            </a:endParaRPr>
          </a:p>
          <a:p>
            <a:pPr>
              <a:buNone/>
            </a:pPr>
            <a:r>
              <a:rPr lang="ru-RU" dirty="0">
                <a:cs typeface="Calibri" panose="020F0502020204030204"/>
              </a:rPr>
              <a:t>Выделить несколько самых популярных: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Каскадная модель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Спиральная модель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Круговая модель</a:t>
            </a:r>
            <a:endParaRPr lang="ru-RU">
              <a:cs typeface="Calibri" panose="020F0502020204030204"/>
            </a:endParaRPr>
          </a:p>
          <a:p>
            <a:endParaRPr lang="ru-RU">
              <a:cs typeface="Calibri" panose="020F0502020204030204"/>
            </a:endParaRPr>
          </a:p>
          <a:p>
            <a:pPr>
              <a:buNone/>
            </a:pPr>
            <a:endParaRPr lang="ru-RU">
              <a:cs typeface="Calibri" panose="020F0502020204030204"/>
            </a:endParaRPr>
          </a:p>
          <a:p>
            <a:pPr>
              <a:buNone/>
            </a:pPr>
            <a:endParaRPr lang="ru-R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587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6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27312-546A-6E5D-22AB-5E41491F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Каскадная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модель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5EF66754-E25D-0B0B-A357-AB279353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313299"/>
            <a:ext cx="5519903" cy="3091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2BACFF-5967-B164-19E7-4BCA15663FD8}"/>
              </a:ext>
            </a:extLst>
          </p:cNvPr>
          <p:cNvSpPr txBox="1"/>
          <p:nvPr/>
        </p:nvSpPr>
        <p:spPr>
          <a:xfrm>
            <a:off x="4038600" y="4884873"/>
            <a:ext cx="7188199" cy="129209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Каскадная модель - подразумевает последовательное прохождение стадий, каждая из которых должна завершиться полностью до начала следующей</a:t>
            </a:r>
          </a:p>
        </p:txBody>
      </p:sp>
    </p:spTree>
    <p:extLst>
      <p:ext uri="{BB962C8B-B14F-4D97-AF65-F5344CB8AC3E}">
        <p14:creationId xmlns:p14="http://schemas.microsoft.com/office/powerpoint/2010/main" val="346664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7F53C-4C3F-0CAA-11D8-0F02D818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  <a:cs typeface="Calibri Light"/>
              </a:rPr>
              <a:t>Преимущества и недостатки каскадной модели </a:t>
            </a:r>
            <a:endParaRPr lang="ru-RU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E1AC9-B12E-6939-E273-132010A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Преимущества:</a:t>
            </a:r>
            <a:endParaRPr lang="ru-RU" sz="2000">
              <a:cs typeface="Calibri" panose="020F0502020204030204"/>
            </a:endParaRPr>
          </a:p>
          <a:p>
            <a:r>
              <a:rPr lang="ru-RU" sz="2000">
                <a:ea typeface="+mn-lt"/>
                <a:cs typeface="+mn-lt"/>
              </a:rPr>
              <a:t>Последовательное выполнение этапов проекта в строгом фиксированном порядке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Позволяет оценивать качество продукта на каждом этапе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Недостатки:</a:t>
            </a:r>
            <a:endParaRPr lang="ru-RU" sz="2000">
              <a:cs typeface="Calibri" panose="020F0502020204030204"/>
            </a:endParaRPr>
          </a:p>
          <a:p>
            <a:r>
              <a:rPr lang="ru-RU" sz="2000">
                <a:ea typeface="+mn-lt"/>
                <a:cs typeface="+mn-lt"/>
              </a:rPr>
              <a:t>Отсутствие обратных связей между этапами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Не соответствует реальным условиям разработки программного продукта</a:t>
            </a:r>
            <a:endParaRPr lang="ru-RU" sz="2000"/>
          </a:p>
          <a:p>
            <a:endParaRPr lang="ru-RU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68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0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F5328-9ACB-A499-EA5C-C1469BA8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 err="1">
                <a:solidFill>
                  <a:srgbClr val="FFFFFF"/>
                </a:solidFill>
              </a:rPr>
              <a:t>Спиральная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модель</a:t>
            </a:r>
            <a:endParaRPr lang="en-US" sz="2600" kern="1200" dirty="0" err="1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513F4A81-E12F-98D4-FA81-2C8AAF7B7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955" y="961812"/>
            <a:ext cx="5835488" cy="4930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28F30-6B0E-E7B5-4FDF-E9F635B1F94C}"/>
              </a:ext>
            </a:extLst>
          </p:cNvPr>
          <p:cNvSpPr txBox="1"/>
          <p:nvPr/>
        </p:nvSpPr>
        <p:spPr>
          <a:xfrm>
            <a:off x="4714993" y="5890919"/>
            <a:ext cx="58382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Спиральная модель - подразумевает </a:t>
            </a: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60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E840A-9C8A-B161-C69B-7CB819F5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cs typeface="Calibri Light"/>
              </a:rPr>
              <a:t>Приемущества и недостатки спиральной модели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4213F1-9A7D-3193-F7F0-037363D03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n-lt"/>
                <a:cs typeface="+mn-lt"/>
              </a:rPr>
              <a:t>Преимущества: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Быстрое получение результата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Повышение конкурентоспособности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Изменяющиеся требования — не проблема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Недостатки:</a:t>
            </a:r>
            <a:endParaRPr lang="ru-RU" dirty="0"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Отсутствие регламентации стадий</a:t>
            </a:r>
            <a:endParaRPr lang="ru-RU" dirty="0"/>
          </a:p>
          <a:p>
            <a:pPr marL="0" indent="0">
              <a:buNone/>
            </a:pPr>
            <a:endParaRPr lang="ru-RU" dirty="0">
              <a:cs typeface="Calibri" panose="020F0502020204030204"/>
            </a:endParaRPr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48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5763C31C-5B40-6573-DE8F-24DEED1C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88" y="1165225"/>
            <a:ext cx="7186613" cy="4524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B548C1-24E6-5A52-EEFA-47231CAF8A52}"/>
              </a:ext>
            </a:extLst>
          </p:cNvPr>
          <p:cNvSpPr txBox="1"/>
          <p:nvPr/>
        </p:nvSpPr>
        <p:spPr>
          <a:xfrm>
            <a:off x="4103688" y="5644696"/>
            <a:ext cx="7186613" cy="90487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300">
                <a:solidFill>
                  <a:srgbClr val="FFFFFF"/>
                </a:solidFill>
                <a:ea typeface="+mn-lt"/>
                <a:cs typeface="+mn-lt"/>
              </a:rPr>
              <a:t>Данная модель основывается на разработки прототипов и прототипирования продукта.</a:t>
            </a:r>
            <a:br>
              <a:rPr lang="ru-RU" sz="13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ru-RU" sz="1300">
                <a:solidFill>
                  <a:srgbClr val="FFFFFF"/>
                </a:solidFill>
                <a:ea typeface="+mn-lt"/>
                <a:cs typeface="+mn-lt"/>
              </a:rPr>
              <a:t>Прототипирование используется на ранних стадиях жизненного цикла программного обеспечения.</a:t>
            </a:r>
            <a:endParaRPr lang="ru-RU" sz="1300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1A96C-B479-02B8-9F42-CA2E49027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 модель</a:t>
            </a:r>
          </a:p>
        </p:txBody>
      </p:sp>
    </p:spTree>
    <p:extLst>
      <p:ext uri="{BB962C8B-B14F-4D97-AF65-F5344CB8AC3E}">
        <p14:creationId xmlns:p14="http://schemas.microsoft.com/office/powerpoint/2010/main" val="171172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F0638-89A8-6269-FB9B-A77E3061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  <a:cs typeface="Calibri Light"/>
              </a:rPr>
              <a:t>V модель приемущества и недостатки</a:t>
            </a:r>
            <a:endParaRPr lang="ru-RU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68AEA-CBC7-4B33-FD1A-33055A387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ea typeface="+mn-lt"/>
                <a:cs typeface="+mn-lt"/>
              </a:rPr>
              <a:t>Приемущества</a:t>
            </a:r>
          </a:p>
          <a:p>
            <a:r>
              <a:rPr lang="ru-RU" sz="2000" dirty="0">
                <a:ea typeface="+mn-lt"/>
                <a:cs typeface="+mn-lt"/>
              </a:rPr>
              <a:t>планирование на ранних стадиях разработки системы ее тестирования</a:t>
            </a:r>
            <a:endParaRPr lang="ru-RU" sz="2000">
              <a:cs typeface="Calibri" panose="020F0502020204030204"/>
            </a:endParaRPr>
          </a:p>
          <a:p>
            <a:r>
              <a:rPr lang="ru-RU" sz="2000" dirty="0">
                <a:ea typeface="+mn-lt"/>
                <a:cs typeface="+mn-lt"/>
              </a:rPr>
              <a:t>обеспечение аттестации и верификации всех промежуточных результатов разработки</a:t>
            </a:r>
            <a:endParaRPr lang="ru-RU" sz="2000">
              <a:cs typeface="Calibri"/>
            </a:endParaRPr>
          </a:p>
          <a:p>
            <a:r>
              <a:rPr lang="ru-RU" sz="2000" dirty="0">
                <a:ea typeface="+mn-lt"/>
                <a:cs typeface="+mn-lt"/>
              </a:rPr>
              <a:t>упрощение (по сравнению с каскадной моделью) отслеживания хода процесса разработки, возможность более реального использования графика проекта</a:t>
            </a:r>
            <a:endParaRPr lang="ru-RU" sz="2000">
              <a:cs typeface="Calibri"/>
            </a:endParaRPr>
          </a:p>
          <a:p>
            <a:pPr marL="0" indent="0">
              <a:buNone/>
            </a:pPr>
            <a:r>
              <a:rPr lang="ru-RU" sz="2000" dirty="0">
                <a:cs typeface="Calibri"/>
              </a:rPr>
              <a:t>Недостатки</a:t>
            </a:r>
          </a:p>
          <a:p>
            <a:r>
              <a:rPr lang="ru-RU" sz="2000" dirty="0">
                <a:ea typeface="+mn-lt"/>
                <a:cs typeface="+mn-lt"/>
              </a:rPr>
              <a:t>Недостатки метода V-модели заключаются в следующем — Высокий риск и неопределенность. </a:t>
            </a:r>
          </a:p>
          <a:p>
            <a:r>
              <a:rPr lang="ru-RU" sz="2000" dirty="0">
                <a:cs typeface="Calibri"/>
              </a:rPr>
              <a:t>Не очень хорошая модель для сложных и объектно-ориентированных проектов. </a:t>
            </a:r>
          </a:p>
          <a:p>
            <a:r>
              <a:rPr lang="ru-RU" sz="2000" dirty="0">
                <a:ea typeface="+mn-lt"/>
                <a:cs typeface="+mn-lt"/>
              </a:rPr>
              <a:t>Плохая модель для длительных и текущих проектов.</a:t>
            </a:r>
          </a:p>
        </p:txBody>
      </p:sp>
    </p:spTree>
    <p:extLst>
      <p:ext uri="{BB962C8B-B14F-4D97-AF65-F5344CB8AC3E}">
        <p14:creationId xmlns:p14="http://schemas.microsoft.com/office/powerpoint/2010/main" val="21912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86059-9A0F-98FD-5F14-2076568E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Итерационная модель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C76E7E5B-77B1-C0FD-C1A0-D6391ED4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72" y="2296912"/>
            <a:ext cx="10383471" cy="3573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0F4E0-D0B1-C2F2-BAA4-60F99E7E8459}"/>
              </a:ext>
            </a:extLst>
          </p:cNvPr>
          <p:cNvSpPr txBox="1"/>
          <p:nvPr/>
        </p:nvSpPr>
        <p:spPr>
          <a:xfrm>
            <a:off x="522514" y="5954486"/>
            <a:ext cx="111469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Итерационная модель предусматривает итерационные возвращения на предыдущие этапы после выполнения очередного этапа.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880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F4188-A875-D337-DA3E-7616BB88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cs typeface="Calibri Light"/>
              </a:rPr>
              <a:t>Приемущества</a:t>
            </a:r>
            <a:r>
              <a:rPr lang="ru-RU" dirty="0">
                <a:cs typeface="Calibri Light"/>
              </a:rPr>
              <a:t> и недостатки итерационной модели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AAF53B-933E-FEFE-697C-054232EC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000" b="1" dirty="0">
                <a:ea typeface="+mn-lt"/>
                <a:cs typeface="+mn-lt"/>
              </a:rPr>
              <a:t>Преимущества Итеративной модели</a:t>
            </a:r>
            <a:endParaRPr lang="ru-RU" dirty="0"/>
          </a:p>
          <a:p>
            <a:r>
              <a:rPr lang="ru-RU" sz="2000" dirty="0">
                <a:ea typeface="+mn-lt"/>
                <a:cs typeface="+mn-lt"/>
              </a:rPr>
              <a:t>Создает рабочее программное обеспечение быстро и на ранних стадиях жизненного цикла</a:t>
            </a:r>
          </a:p>
          <a:p>
            <a:r>
              <a:rPr lang="ru-RU" sz="2000" dirty="0">
                <a:ea typeface="+mn-lt"/>
                <a:cs typeface="+mn-lt"/>
              </a:rPr>
              <a:t>Более гибкий — дешевле выйдет изменить направления и требования</a:t>
            </a:r>
          </a:p>
          <a:p>
            <a:r>
              <a:rPr lang="ru-RU" sz="2000" dirty="0">
                <a:ea typeface="+mn-lt"/>
                <a:cs typeface="+mn-lt"/>
              </a:rPr>
              <a:t>Легче тестировать и отлаживать при меньших итерациях</a:t>
            </a:r>
          </a:p>
          <a:p>
            <a:pPr>
              <a:buNone/>
            </a:pPr>
            <a:r>
              <a:rPr lang="ru-RU" sz="2000" b="1" dirty="0">
                <a:ea typeface="+mn-lt"/>
                <a:cs typeface="+mn-lt"/>
              </a:rPr>
              <a:t>Недостатки итерационной модели: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время жизни каждого этапа растягивается на весь период разработки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вследствие большого числа итераций возникают рассогласования выполнения проектных решений и документации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запутанность архитектуры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трудности использования проектной документации на стадиях внедрения и эксплуатации вызывают необходимость перепроектирования всей системы</a:t>
            </a:r>
            <a:endParaRPr lang="ru-RU" dirty="0"/>
          </a:p>
          <a:p>
            <a:pPr marL="0" indent="0">
              <a:buNone/>
            </a:pPr>
            <a:endParaRPr lang="ru-RU" sz="2000" dirty="0">
              <a:cs typeface="Calibri"/>
            </a:endParaRP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413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291BB-2A55-2B41-8EA6-9F13A8EA0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cs typeface="Calibri Ligh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9210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Модели жизненного цикла ПО </vt:lpstr>
      <vt:lpstr>Модели жизненного цикла</vt:lpstr>
      <vt:lpstr>Каскадная модель</vt:lpstr>
      <vt:lpstr>Преимущества и недостатки каскадной модели </vt:lpstr>
      <vt:lpstr>Спиральная модель</vt:lpstr>
      <vt:lpstr>Приемущества и недостатки спиральной модели</vt:lpstr>
      <vt:lpstr>V модель</vt:lpstr>
      <vt:lpstr>V модель приемущества и недостатки</vt:lpstr>
      <vt:lpstr>Итерационная модель</vt:lpstr>
      <vt:lpstr>Приемущества и недостатки итерационной модели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275</cp:revision>
  <dcterms:created xsi:type="dcterms:W3CDTF">2023-01-18T03:42:14Z</dcterms:created>
  <dcterms:modified xsi:type="dcterms:W3CDTF">2023-01-18T07:00:52Z</dcterms:modified>
</cp:coreProperties>
</file>