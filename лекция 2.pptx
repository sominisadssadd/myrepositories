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92" r:id="rId1"/>
    <p:sldMasterId id="2147483693" r:id="rId2"/>
    <p:sldMasterId id="2147483694" r:id="rId3"/>
    <p:sldMasterId id="2147483695" r:id="rId4"/>
  </p:sldMasterIdLst>
  <p:notesMasterIdLst>
    <p:notesMasterId r:id="rId3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83" r:id="rId12"/>
    <p:sldId id="263" r:id="rId13"/>
    <p:sldId id="282" r:id="rId14"/>
    <p:sldId id="264" r:id="rId15"/>
    <p:sldId id="28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6858000" type="screen4x3"/>
  <p:notesSz cx="6858000" cy="9144000"/>
  <p:embeddedFontLst>
    <p:embeddedFont>
      <p:font typeface="Book Antiqua" panose="02040602050305030304" pitchFamily="18" charset="0"/>
      <p:regular r:id="rId35"/>
      <p:bold r:id="rId36"/>
      <p:italic r:id="rId37"/>
      <p:boldItalic r:id="rId38"/>
    </p:embeddedFont>
    <p:embeddedFont>
      <p:font typeface="Lucida Sans" panose="020B0602030504020204" pitchFamily="34" charset="0"/>
      <p:regular r:id="rId39"/>
      <p:bold r:id="rId40"/>
      <p:italic r:id="rId41"/>
      <p:boldItalic r:id="rId42"/>
    </p:embeddedFont>
    <p:embeddedFont>
      <p:font typeface="Century Schoolbook" panose="02040604050505020304" pitchFamily="18" charset="0"/>
      <p:regular r:id="rId43"/>
      <p:bold r:id="rId44"/>
      <p:italic r:id="rId45"/>
      <p:boldItalic r:id="rId46"/>
    </p:embeddedFon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Verdana" panose="020B0604030504040204" pitchFamily="3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181127-12AE-43AD-9B5F-64207492F349}">
  <a:tblStyle styleId="{2A181127-12AE-43AD-9B5F-64207492F349}" styleName="Table_0">
    <a:wholeTbl>
      <a:tcTxStyle b="off" i="off">
        <a:font>
          <a:latin typeface="Century Schoolbook"/>
          <a:ea typeface="Century Schoolbook"/>
          <a:cs typeface="Century Schoolbook"/>
        </a:font>
        <a:schemeClr val="dk1"/>
      </a:tcTxStyle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68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font" Target="fonts/font7.fntdata"/><Relationship Id="rId54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font" Target="fonts/font17.fntdata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94667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2710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8146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6707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200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9550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3436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4054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8160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9806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6931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3182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2161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9914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4474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" name="Google Shape;4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03365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6730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5914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8538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41080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98724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05926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97086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6" name="Google Shape;49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36716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9129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13070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63935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7" name="Google Shape;52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30350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4" name="Google Shape;53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61414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0530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EAD594"/>
              </a:buClr>
              <a:buSzPts val="4800"/>
              <a:buFont typeface="Lucida Sans"/>
              <a:buNone/>
              <a:defRPr sz="4800" b="1" cap="none">
                <a:solidFill>
                  <a:srgbClr val="EAD59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SzPts val="182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71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EAD5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spcBef>
                <a:spcPts val="360"/>
              </a:spcBef>
              <a:spcAft>
                <a:spcPts val="0"/>
              </a:spcAft>
              <a:buSzPts val="1170"/>
              <a:buChar char="▣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🢭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DCC577"/>
              </a:buClr>
              <a:buSzPts val="4800"/>
              <a:buFont typeface="Lucida Sans"/>
              <a:buNone/>
              <a:defRPr sz="4800" b="1" cap="none">
                <a:solidFill>
                  <a:srgbClr val="DCC577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3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5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EAD5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915" algn="l">
              <a:spcBef>
                <a:spcPts val="520"/>
              </a:spcBef>
              <a:spcAft>
                <a:spcPts val="0"/>
              </a:spcAft>
              <a:buSzPts val="1690"/>
              <a:buChar char="▣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SzPts val="1920"/>
              <a:buChar char="◼"/>
              <a:defRPr sz="24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SzPts val="1900"/>
              <a:buChar char="🢭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915" algn="l">
              <a:spcBef>
                <a:spcPts val="520"/>
              </a:spcBef>
              <a:spcAft>
                <a:spcPts val="0"/>
              </a:spcAft>
              <a:buSzPts val="1690"/>
              <a:buChar char="▣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SzPts val="1920"/>
              <a:buChar char="◼"/>
              <a:defRPr sz="24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SzPts val="1900"/>
              <a:buChar char="🢭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EAD594"/>
              </a:buClr>
              <a:buSzPts val="4100"/>
              <a:buFont typeface="Lucid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56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645025" y="1535112"/>
            <a:ext cx="4041775" cy="75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56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57200" y="2362200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7660" algn="l">
              <a:spcBef>
                <a:spcPts val="480"/>
              </a:spcBef>
              <a:spcAft>
                <a:spcPts val="0"/>
              </a:spcAft>
              <a:buSzPts val="1560"/>
              <a:buChar char="▣"/>
              <a:defRPr sz="24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SzPts val="1600"/>
              <a:buChar char="◼"/>
              <a:defRPr sz="2000"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🢭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2362200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7660" algn="l">
              <a:spcBef>
                <a:spcPts val="480"/>
              </a:spcBef>
              <a:spcAft>
                <a:spcPts val="0"/>
              </a:spcAft>
              <a:buSzPts val="1560"/>
              <a:buChar char="▣"/>
              <a:defRPr sz="24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SzPts val="1600"/>
              <a:buChar char="◼"/>
              <a:defRPr sz="2000"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🢭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EAD5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4DB8A"/>
              </a:buClr>
              <a:buSzPts val="2200"/>
              <a:buFont typeface="Lucida Sans"/>
              <a:buNone/>
              <a:defRPr sz="2200" b="0">
                <a:solidFill>
                  <a:srgbClr val="F4DB8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57200" y="1524000"/>
            <a:ext cx="3008313" cy="460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9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915" algn="l">
              <a:spcBef>
                <a:spcPts val="520"/>
              </a:spcBef>
              <a:spcAft>
                <a:spcPts val="0"/>
              </a:spcAft>
              <a:buSzPts val="1690"/>
              <a:buChar char="▣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SzPts val="1920"/>
              <a:buChar char="◼"/>
              <a:defRPr sz="2400"/>
            </a:lvl2pPr>
            <a:lvl3pPr marL="1371600" lvl="2" indent="-361314" algn="l">
              <a:spcBef>
                <a:spcPts val="440"/>
              </a:spcBef>
              <a:spcAft>
                <a:spcPts val="0"/>
              </a:spcAft>
              <a:buSzPts val="2090"/>
              <a:buChar char="🢭"/>
              <a:defRPr sz="22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🢝"/>
              <a:defRPr sz="20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EAD594"/>
              </a:buClr>
              <a:buSzPts val="2000"/>
              <a:buFont typeface="Lucida Sans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828800" y="1831975"/>
            <a:ext cx="5486400" cy="3962400"/>
          </a:xfrm>
          <a:prstGeom prst="rect">
            <a:avLst/>
          </a:prstGeom>
          <a:solidFill>
            <a:schemeClr val="dk2"/>
          </a:solidFill>
          <a:ln w="4445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90500" dist="228600" dir="2700000" sy="9000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rgbClr val="F9F9F9"/>
              </a:buClr>
              <a:buSzPts val="2080"/>
              <a:buFont typeface="Noto Sans Symbols"/>
              <a:buNone/>
              <a:defRPr sz="32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Noto Sans Symbols"/>
              <a:buChar char="◼"/>
              <a:defRPr sz="24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R="0" lvl="2" algn="l" rtl="0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090"/>
              <a:buFont typeface="Noto Sans Symbols"/>
              <a:buChar char="🢭"/>
              <a:defRPr sz="22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🢝"/>
              <a:defRPr sz="20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🢝"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R="0" lvl="6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R="0" lvl="7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R="0" lvl="8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828800" y="1166787"/>
            <a:ext cx="54864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marL="914400" lvl="1" indent="-289560" algn="l">
              <a:spcBef>
                <a:spcPts val="240"/>
              </a:spcBef>
              <a:spcAft>
                <a:spcPts val="0"/>
              </a:spcAft>
              <a:buSzPts val="960"/>
              <a:buChar char="◼"/>
              <a:defRPr sz="1200"/>
            </a:lvl2pPr>
            <a:lvl3pPr marL="1371600" lvl="2" indent="-288925" algn="l">
              <a:spcBef>
                <a:spcPts val="200"/>
              </a:spcBef>
              <a:spcAft>
                <a:spcPts val="0"/>
              </a:spcAft>
              <a:buSzPts val="950"/>
              <a:buChar char="🢭"/>
              <a:defRPr sz="1000"/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SzPts val="900"/>
              <a:buChar char="🢝"/>
              <a:defRPr sz="900"/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SzPts val="900"/>
              <a:buChar char="■"/>
              <a:defRPr sz="9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EAD5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217420" y="-160020"/>
            <a:ext cx="470916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spcBef>
                <a:spcPts val="360"/>
              </a:spcBef>
              <a:spcAft>
                <a:spcPts val="0"/>
              </a:spcAft>
              <a:buSzPts val="1170"/>
              <a:buChar char="▣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🢭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EAD5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spcBef>
                <a:spcPts val="360"/>
              </a:spcBef>
              <a:spcAft>
                <a:spcPts val="0"/>
              </a:spcAft>
              <a:buSzPts val="1170"/>
              <a:buChar char="▣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🢭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304800" y="1554163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🞭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🞤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dt" idx="10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ftr" idx="11"/>
          </p:nvPr>
        </p:nvSpPr>
        <p:spPr>
          <a:xfrm>
            <a:off x="3581400" y="76200"/>
            <a:ext cx="2895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 слайд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dt" idx="10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ftr" idx="11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sldNum" idx="12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16"/>
          <p:cNvCxnSpPr/>
          <p:nvPr/>
        </p:nvCxnSpPr>
        <p:spPr>
          <a:xfrm>
            <a:off x="514350" y="5349902"/>
            <a:ext cx="8629650" cy="238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p16"/>
          <p:cNvSpPr txBox="1"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>
                <a:solidFill>
                  <a:srgbClr val="44332A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dt" idx="10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ftr" idx="11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раздела" type="secHead">
  <p:cSld name="SECTION_HEADER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Google Shape;111;p17"/>
          <p:cNvCxnSpPr/>
          <p:nvPr/>
        </p:nvCxnSpPr>
        <p:spPr>
          <a:xfrm>
            <a:off x="514350" y="3444902"/>
            <a:ext cx="8629650" cy="238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44332A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solidFill>
                  <a:srgbClr val="888888"/>
                </a:solidFill>
              </a:defRPr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dt" idx="10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ftr" idx="11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sldNum" idx="12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1"/>
          </p:nvPr>
        </p:nvSpPr>
        <p:spPr>
          <a:xfrm>
            <a:off x="304800" y="1600200"/>
            <a:ext cx="41910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🞭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🞤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🞫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34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🞭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🞤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🞫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ftr" idx="11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Сравнение" type="twoTxTwoObj">
  <p:cSld name="TWO_OBJECTS_WITH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19"/>
          <p:cNvCxnSpPr/>
          <p:nvPr/>
        </p:nvCxnSpPr>
        <p:spPr>
          <a:xfrm>
            <a:off x="514350" y="6019800"/>
            <a:ext cx="8629650" cy="238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0" cap="none">
                <a:solidFill>
                  <a:srgbClr val="AF762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 b="1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body" idx="2"/>
          </p:nvPr>
        </p:nvSpPr>
        <p:spPr>
          <a:xfrm>
            <a:off x="4645025" y="666750"/>
            <a:ext cx="4292241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0" cap="none">
                <a:solidFill>
                  <a:srgbClr val="AF762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 b="1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body" idx="3"/>
          </p:nvPr>
        </p:nvSpPr>
        <p:spPr>
          <a:xfrm>
            <a:off x="281444" y="1316037"/>
            <a:ext cx="4290556" cy="394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🞭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🞤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🞲"/>
              <a:defRPr sz="1600"/>
            </a:lvl4pPr>
            <a:lvl5pPr marL="2286000" lvl="4" indent="-289560" algn="l">
              <a:spcBef>
                <a:spcPts val="320"/>
              </a:spcBef>
              <a:spcAft>
                <a:spcPts val="0"/>
              </a:spcAft>
              <a:buSzPts val="960"/>
              <a:buChar char="🞩"/>
              <a:defRPr sz="16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body" idx="4"/>
          </p:nvPr>
        </p:nvSpPr>
        <p:spPr>
          <a:xfrm>
            <a:off x="4648730" y="1316037"/>
            <a:ext cx="4288536" cy="394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🞭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🞤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🞲"/>
              <a:defRPr sz="1600"/>
            </a:lvl4pPr>
            <a:lvl5pPr marL="2286000" lvl="4" indent="-289560" algn="l">
              <a:spcBef>
                <a:spcPts val="320"/>
              </a:spcBef>
              <a:spcAft>
                <a:spcPts val="0"/>
              </a:spcAft>
              <a:buSzPts val="960"/>
              <a:buChar char="🞩"/>
              <a:defRPr sz="16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dt" idx="10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ftr" idx="11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ldNum" idx="12"/>
          </p:nvPr>
        </p:nvSpPr>
        <p:spPr>
          <a:xfrm>
            <a:off x="8229600" y="64770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dt" idx="10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ftr" idx="11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sldNum" idx="12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ъект с подписью" type="objTx">
  <p:cSld name="OBJECT_WITH_CAPTION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Google Shape;140;p21"/>
          <p:cNvCxnSpPr/>
          <p:nvPr/>
        </p:nvCxnSpPr>
        <p:spPr>
          <a:xfrm>
            <a:off x="514350" y="5849117"/>
            <a:ext cx="8629650" cy="238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" name="Google Shape;141;p21"/>
          <p:cNvSpPr txBox="1"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entury Schoolbook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body" idx="1"/>
          </p:nvPr>
        </p:nvSpPr>
        <p:spPr>
          <a:xfrm>
            <a:off x="457200" y="609600"/>
            <a:ext cx="3008313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2"/>
          </p:nvPr>
        </p:nvSpPr>
        <p:spPr>
          <a:xfrm>
            <a:off x="3575050" y="609600"/>
            <a:ext cx="53403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640"/>
              </a:spcBef>
              <a:spcAft>
                <a:spcPts val="0"/>
              </a:spcAft>
              <a:buSzPts val="2240"/>
              <a:buChar char="🞭"/>
              <a:defRPr sz="3200"/>
            </a:lvl1pPr>
            <a:lvl2pPr marL="914400" lvl="1" indent="-353060" algn="l">
              <a:spcBef>
                <a:spcPts val="560"/>
              </a:spcBef>
              <a:spcAft>
                <a:spcPts val="0"/>
              </a:spcAft>
              <a:buSzPts val="1960"/>
              <a:buChar char="🞤"/>
              <a:defRPr sz="28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🞫"/>
              <a:defRPr sz="2400"/>
            </a:lvl3pPr>
            <a:lvl4pPr marL="1828800" lvl="3" indent="-317500" algn="l">
              <a:spcBef>
                <a:spcPts val="400"/>
              </a:spcBef>
              <a:spcAft>
                <a:spcPts val="0"/>
              </a:spcAft>
              <a:buSzPts val="1400"/>
              <a:buChar char="🞲"/>
              <a:defRPr sz="2000"/>
            </a:lvl4pPr>
            <a:lvl5pPr marL="2286000" lvl="4" indent="-304800" algn="l">
              <a:spcBef>
                <a:spcPts val="400"/>
              </a:spcBef>
              <a:spcAft>
                <a:spcPts val="0"/>
              </a:spcAft>
              <a:buSzPts val="1200"/>
              <a:buChar char="🞩"/>
              <a:defRPr sz="20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dt" idx="10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ftr" idx="11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ldNum" idx="12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исунок с подписью" type="picTx">
  <p:cSld name="PICTURE_WITH_CAPTION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>
            <a:spLocks noGrp="1"/>
          </p:cNvSpPr>
          <p:nvPr>
            <p:ph type="pic" idx="2"/>
          </p:nvPr>
        </p:nvSpPr>
        <p:spPr>
          <a:xfrm>
            <a:off x="3505200" y="616634"/>
            <a:ext cx="5029200" cy="365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reflection stA="49000" endA="500" endPos="10000" dist="900" dir="5400000" sy="-90000" algn="bl" rotWithShape="0"/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  <a:defRPr sz="32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sz="28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sz="24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sz="2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sz="18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sz="18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sz="1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sz="1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entury Schoolbook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body" idx="1"/>
          </p:nvPr>
        </p:nvSpPr>
        <p:spPr>
          <a:xfrm>
            <a:off x="381000" y="5533218"/>
            <a:ext cx="58674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81940" algn="l">
              <a:spcBef>
                <a:spcPts val="240"/>
              </a:spcBef>
              <a:spcAft>
                <a:spcPts val="0"/>
              </a:spcAft>
              <a:buSzPts val="840"/>
              <a:buChar char="🞤"/>
              <a:defRPr sz="1200"/>
            </a:lvl2pPr>
            <a:lvl3pPr marL="1371600" lvl="2" indent="-273050" algn="l">
              <a:spcBef>
                <a:spcPts val="200"/>
              </a:spcBef>
              <a:spcAft>
                <a:spcPts val="0"/>
              </a:spcAft>
              <a:buSzPts val="700"/>
              <a:buChar char="🞫"/>
              <a:defRPr sz="1000"/>
            </a:lvl3pPr>
            <a:lvl4pPr marL="1828800" lvl="3" indent="-268605" algn="l">
              <a:spcBef>
                <a:spcPts val="180"/>
              </a:spcBef>
              <a:spcAft>
                <a:spcPts val="0"/>
              </a:spcAft>
              <a:buSzPts val="630"/>
              <a:buChar char="🞲"/>
              <a:defRPr sz="900"/>
            </a:lvl4pPr>
            <a:lvl5pPr marL="2286000" lvl="4" indent="-262889" algn="l">
              <a:spcBef>
                <a:spcPts val="180"/>
              </a:spcBef>
              <a:spcAft>
                <a:spcPts val="0"/>
              </a:spcAft>
              <a:buSzPts val="540"/>
              <a:buChar char="🞩"/>
              <a:defRPr sz="9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dt" idx="10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ftr" idx="11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ldNum" idx="12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body" idx="1"/>
          </p:nvPr>
        </p:nvSpPr>
        <p:spPr>
          <a:xfrm rot="5400000">
            <a:off x="2385219" y="-526256"/>
            <a:ext cx="4525962" cy="86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🞭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🞤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dt" idx="10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ftr" idx="11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sldNum" idx="12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Вертикальный заголовок и текст" type="vertTitleAndTx">
  <p:cSld name="VERTICAL_TITLE_AND_VERTICAL_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title"/>
          </p:nvPr>
        </p:nvSpPr>
        <p:spPr>
          <a:xfrm rot="5400000">
            <a:off x="4846637" y="2560638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4"/>
          <p:cNvSpPr txBox="1">
            <a:spLocks noGrp="1"/>
          </p:cNvSpPr>
          <p:nvPr>
            <p:ph type="body" idx="1"/>
          </p:nvPr>
        </p:nvSpPr>
        <p:spPr>
          <a:xfrm rot="5400000">
            <a:off x="655638" y="350839"/>
            <a:ext cx="5851525" cy="6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🞭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🞤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63" name="Google Shape;163;p24"/>
          <p:cNvSpPr txBox="1">
            <a:spLocks noGrp="1"/>
          </p:cNvSpPr>
          <p:nvPr>
            <p:ph type="dt" idx="10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ftr" idx="11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/>
          <p:cNvSpPr txBox="1">
            <a:spLocks noGrp="1"/>
          </p:cNvSpPr>
          <p:nvPr>
            <p:ph type="sldNum" idx="12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6"/>
          <p:cNvSpPr txBox="1"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2004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56616" algn="l">
              <a:spcBef>
                <a:spcPts val="230"/>
              </a:spcBef>
              <a:spcAft>
                <a:spcPts val="0"/>
              </a:spcAft>
              <a:buSzPts val="2016"/>
              <a:buChar char="◦"/>
              <a:defRPr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77" name="Google Shape;177;p26"/>
          <p:cNvSpPr txBox="1">
            <a:spLocks noGrp="1"/>
          </p:cNvSpPr>
          <p:nvPr>
            <p:ph type="dt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ft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sldNum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>
            <a:gsLst>
              <a:gs pos="0">
                <a:schemeClr val="lt1"/>
              </a:gs>
              <a:gs pos="55000">
                <a:srgbClr val="DFDFDF"/>
              </a:gs>
              <a:gs pos="100000">
                <a:srgbClr val="9E9E9E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27"/>
          <p:cNvSpPr txBox="1"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4500"/>
              <a:buFont typeface="Verdana"/>
              <a:buNone/>
              <a:defRPr sz="4500" b="1">
                <a:solidFill>
                  <a:srgbClr val="FF8C3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7"/>
          <p:cNvSpPr txBox="1"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8766F"/>
                </a:solidFill>
              </a:defRPr>
            </a:lvl1pPr>
            <a:lvl2pPr lvl="1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30"/>
              </a:spcBef>
              <a:spcAft>
                <a:spcPts val="0"/>
              </a:spcAft>
              <a:buSzPts val="2016"/>
              <a:buNone/>
              <a:defRPr/>
            </a:lvl4pPr>
            <a:lvl5pPr lvl="4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57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dt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7"/>
          <p:cNvSpPr txBox="1">
            <a:spLocks noGrp="1"/>
          </p:cNvSpPr>
          <p:nvPr>
            <p:ph type="ft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7"/>
          <p:cNvSpPr txBox="1">
            <a:spLocks noGrp="1"/>
          </p:cNvSpPr>
          <p:nvPr>
            <p:ph type="sldNum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раздела" type="secHead">
  <p:cSld name="SECTION_HEADER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>
            <a:gsLst>
              <a:gs pos="0">
                <a:schemeClr val="lt1"/>
              </a:gs>
              <a:gs pos="55000">
                <a:srgbClr val="DFDFDF"/>
              </a:gs>
              <a:gs pos="100000">
                <a:srgbClr val="9E9E9E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8766F"/>
              </a:buClr>
              <a:buSzPts val="3600"/>
              <a:buFont typeface="Verdana"/>
              <a:buNone/>
              <a:defRPr sz="3600" b="0" cap="none">
                <a:solidFill>
                  <a:srgbClr val="78766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8"/>
          <p:cNvSpPr txBox="1"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0" rIns="91425" bIns="45700" anchor="t" anchorCtr="0">
            <a:noAutofit/>
          </a:bodyPr>
          <a:lstStyle>
            <a:lvl1pPr marL="457200" marR="36576" lvl="0" indent="-228600" algn="l">
              <a:spcBef>
                <a:spcPts val="0"/>
              </a:spcBef>
              <a:spcAft>
                <a:spcPts val="0"/>
              </a:spcAft>
              <a:buSzPts val="1440"/>
              <a:buNone/>
              <a:defRPr sz="1800" b="0">
                <a:solidFill>
                  <a:srgbClr val="B75C00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30"/>
              </a:spcBef>
              <a:spcAft>
                <a:spcPts val="0"/>
              </a:spcAft>
              <a:buSzPts val="156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93" name="Google Shape;193;p28"/>
          <p:cNvSpPr txBox="1">
            <a:spLocks noGrp="1"/>
          </p:cNvSpPr>
          <p:nvPr>
            <p:ph type="dt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8"/>
          <p:cNvSpPr txBox="1">
            <a:spLocks noGrp="1"/>
          </p:cNvSpPr>
          <p:nvPr>
            <p:ph type="ft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8"/>
          <p:cNvSpPr txBox="1">
            <a:spLocks noGrp="1"/>
          </p:cNvSpPr>
          <p:nvPr>
            <p:ph type="sldNum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body" idx="1"/>
          </p:nvPr>
        </p:nvSpPr>
        <p:spPr>
          <a:xfrm>
            <a:off x="514352" y="530352"/>
            <a:ext cx="393192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6068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marL="914400" lvl="1" indent="-3683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marL="1371600" lvl="2" indent="-355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56616" algn="l">
              <a:spcBef>
                <a:spcPts val="230"/>
              </a:spcBef>
              <a:spcAft>
                <a:spcPts val="0"/>
              </a:spcAft>
              <a:buSzPts val="2016"/>
              <a:buChar char="◦"/>
              <a:defRPr sz="1800"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99" name="Google Shape;199;p29"/>
          <p:cNvSpPr txBox="1">
            <a:spLocks noGrp="1"/>
          </p:cNvSpPr>
          <p:nvPr>
            <p:ph type="body" idx="2"/>
          </p:nvPr>
        </p:nvSpPr>
        <p:spPr>
          <a:xfrm>
            <a:off x="4755360" y="530352"/>
            <a:ext cx="393192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6068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marL="914400" lvl="1" indent="-3683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marL="1371600" lvl="2" indent="-355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56616" algn="l">
              <a:spcBef>
                <a:spcPts val="230"/>
              </a:spcBef>
              <a:spcAft>
                <a:spcPts val="0"/>
              </a:spcAft>
              <a:buSzPts val="2016"/>
              <a:buChar char="◦"/>
              <a:defRPr sz="1800"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00" name="Google Shape;200;p29"/>
          <p:cNvSpPr txBox="1">
            <a:spLocks noGrp="1"/>
          </p:cNvSpPr>
          <p:nvPr>
            <p:ph type="dt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9"/>
          <p:cNvSpPr txBox="1">
            <a:spLocks noGrp="1"/>
          </p:cNvSpPr>
          <p:nvPr>
            <p:ph type="ft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9"/>
          <p:cNvSpPr txBox="1">
            <a:spLocks noGrp="1"/>
          </p:cNvSpPr>
          <p:nvPr>
            <p:ph type="sldNum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3600"/>
              <a:buFont typeface="Verdana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300" tIns="91425" rIns="91425" bIns="45700" anchor="ctr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920"/>
              <a:buNone/>
              <a:defRPr sz="2400" b="1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230"/>
              </a:spcBef>
              <a:spcAft>
                <a:spcPts val="0"/>
              </a:spcAft>
              <a:buSzPts val="1792"/>
              <a:buNone/>
              <a:defRPr sz="1600" b="1"/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body" idx="2"/>
          </p:nvPr>
        </p:nvSpPr>
        <p:spPr>
          <a:xfrm>
            <a:off x="4652169" y="579438"/>
            <a:ext cx="393192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91425" bIns="45700" anchor="ctr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920"/>
              <a:buNone/>
              <a:defRPr sz="2400" b="1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230"/>
              </a:spcBef>
              <a:spcAft>
                <a:spcPts val="0"/>
              </a:spcAft>
              <a:buSzPts val="1792"/>
              <a:buNone/>
              <a:defRPr sz="1600" b="1"/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body" idx="3"/>
          </p:nvPr>
        </p:nvSpPr>
        <p:spPr>
          <a:xfrm>
            <a:off x="607224" y="1447800"/>
            <a:ext cx="3931920" cy="34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5052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392" algn="l">
              <a:spcBef>
                <a:spcPts val="230"/>
              </a:spcBef>
              <a:spcAft>
                <a:spcPts val="0"/>
              </a:spcAft>
              <a:buSzPts val="1792"/>
              <a:buChar char="◦"/>
              <a:defRPr sz="1600"/>
            </a:lvl4pPr>
            <a:lvl5pPr marL="2286000" lvl="4" indent="-3302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08" name="Google Shape;208;p30"/>
          <p:cNvSpPr txBox="1">
            <a:spLocks noGrp="1"/>
          </p:cNvSpPr>
          <p:nvPr>
            <p:ph type="body" idx="4"/>
          </p:nvPr>
        </p:nvSpPr>
        <p:spPr>
          <a:xfrm>
            <a:off x="4652169" y="1447800"/>
            <a:ext cx="3931920" cy="34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5052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392" algn="l">
              <a:spcBef>
                <a:spcPts val="230"/>
              </a:spcBef>
              <a:spcAft>
                <a:spcPts val="0"/>
              </a:spcAft>
              <a:buSzPts val="1792"/>
              <a:buChar char="◦"/>
              <a:defRPr sz="1600"/>
            </a:lvl4pPr>
            <a:lvl5pPr marL="2286000" lvl="4" indent="-3302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09" name="Google Shape;209;p30"/>
          <p:cNvSpPr txBox="1">
            <a:spLocks noGrp="1"/>
          </p:cNvSpPr>
          <p:nvPr>
            <p:ph type="dt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0"/>
          <p:cNvSpPr txBox="1">
            <a:spLocks noGrp="1"/>
          </p:cNvSpPr>
          <p:nvPr>
            <p:ph type="ft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0"/>
          <p:cNvSpPr txBox="1">
            <a:spLocks noGrp="1"/>
          </p:cNvSpPr>
          <p:nvPr>
            <p:ph type="sldNum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dt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31"/>
          <p:cNvSpPr txBox="1">
            <a:spLocks noGrp="1"/>
          </p:cNvSpPr>
          <p:nvPr>
            <p:ph type="ft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31"/>
          <p:cNvSpPr txBox="1">
            <a:spLocks noGrp="1"/>
          </p:cNvSpPr>
          <p:nvPr>
            <p:ph type="sldNum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 слайд" type="blank">
  <p:cSld name="BLANK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9" name="Google Shape;219;p32"/>
          <p:cNvSpPr txBox="1">
            <a:spLocks noGrp="1"/>
          </p:cNvSpPr>
          <p:nvPr>
            <p:ph type="dt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32"/>
          <p:cNvSpPr txBox="1">
            <a:spLocks noGrp="1"/>
          </p:cNvSpPr>
          <p:nvPr>
            <p:ph type="ft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32"/>
          <p:cNvSpPr txBox="1">
            <a:spLocks noGrp="1"/>
          </p:cNvSpPr>
          <p:nvPr>
            <p:ph type="sldNum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Verdana"/>
              <a:buNone/>
              <a:defRPr sz="2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body" idx="1"/>
          </p:nvPr>
        </p:nvSpPr>
        <p:spPr>
          <a:xfrm>
            <a:off x="5538847" y="1447802"/>
            <a:ext cx="2971800" cy="420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>
            <a:lvl1pPr marL="457200" marR="18288" lvl="0" indent="-2286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3pPr>
            <a:lvl4pPr marL="1828800" lvl="3" indent="-228600" algn="l">
              <a:spcBef>
                <a:spcPts val="230"/>
              </a:spcBef>
              <a:spcAft>
                <a:spcPts val="0"/>
              </a:spcAft>
              <a:buSzPts val="1008"/>
              <a:buNone/>
              <a:defRPr sz="900">
                <a:solidFill>
                  <a:schemeClr val="dk1"/>
                </a:solidFill>
              </a:defRPr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25" name="Google Shape;225;p33"/>
          <p:cNvSpPr txBox="1">
            <a:spLocks noGrp="1"/>
          </p:cNvSpPr>
          <p:nvPr>
            <p:ph type="body" idx="2"/>
          </p:nvPr>
        </p:nvSpPr>
        <p:spPr>
          <a:xfrm>
            <a:off x="761372" y="930144"/>
            <a:ext cx="4626159" cy="4724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70840" algn="l">
              <a:spcBef>
                <a:spcPts val="250"/>
              </a:spcBef>
              <a:spcAft>
                <a:spcPts val="0"/>
              </a:spcAft>
              <a:buSzPts val="2240"/>
              <a:buChar char="⚫"/>
              <a:defRPr sz="2800">
                <a:solidFill>
                  <a:schemeClr val="dk1"/>
                </a:solidFill>
              </a:defRPr>
            </a:lvl1pPr>
            <a:lvl2pPr marL="914400" lvl="1" indent="-393700" algn="l">
              <a:spcBef>
                <a:spcPts val="250"/>
              </a:spcBef>
              <a:spcAft>
                <a:spcPts val="0"/>
              </a:spcAft>
              <a:buSzPts val="2600"/>
              <a:buChar char="◦"/>
              <a:defRPr sz="2600"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250"/>
              </a:spcBef>
              <a:spcAft>
                <a:spcPts val="0"/>
              </a:spcAft>
              <a:buSzPts val="2400"/>
              <a:buChar char="●"/>
              <a:defRPr sz="2400">
                <a:solidFill>
                  <a:schemeClr val="dk1"/>
                </a:solidFill>
              </a:defRPr>
            </a:lvl3pPr>
            <a:lvl4pPr marL="1828800" lvl="3" indent="-370839" algn="l">
              <a:spcBef>
                <a:spcPts val="230"/>
              </a:spcBef>
              <a:spcAft>
                <a:spcPts val="0"/>
              </a:spcAft>
              <a:buSzPts val="2240"/>
              <a:buChar char="◦"/>
              <a:defRPr sz="2000"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>
                <a:solidFill>
                  <a:schemeClr val="dk1"/>
                </a:solidFill>
              </a:defRPr>
            </a:lvl5pPr>
            <a:lvl6pPr marL="2743200" lvl="5" indent="-228600" algn="l">
              <a:spcBef>
                <a:spcPts val="250"/>
              </a:spcBef>
              <a:spcAft>
                <a:spcPts val="0"/>
              </a:spcAft>
              <a:buSzPts val="1700"/>
              <a:buNone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26" name="Google Shape;226;p33"/>
          <p:cNvSpPr txBox="1">
            <a:spLocks noGrp="1"/>
          </p:cNvSpPr>
          <p:nvPr>
            <p:ph type="dt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33"/>
          <p:cNvSpPr txBox="1">
            <a:spLocks noGrp="1"/>
          </p:cNvSpPr>
          <p:nvPr>
            <p:ph type="ft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33"/>
          <p:cNvSpPr txBox="1">
            <a:spLocks noGrp="1"/>
          </p:cNvSpPr>
          <p:nvPr>
            <p:ph type="sldNum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исунок с подписью" type="picTx">
  <p:cSld name="PICTURE_WITH_CAPTION_TEXT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1" name="Google Shape;231;p34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2" name="Google Shape;232;p34"/>
          <p:cNvSpPr txBox="1"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8766F"/>
              </a:buClr>
              <a:buSzPts val="3600"/>
              <a:buFont typeface="Verdana"/>
              <a:buNone/>
              <a:defRPr sz="3600" b="0">
                <a:solidFill>
                  <a:srgbClr val="78766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34"/>
          <p:cNvSpPr txBox="1">
            <a:spLocks noGrp="1"/>
          </p:cNvSpPr>
          <p:nvPr>
            <p:ph type="body" idx="1"/>
          </p:nvPr>
        </p:nvSpPr>
        <p:spPr>
          <a:xfrm>
            <a:off x="6462712" y="533400"/>
            <a:ext cx="2240280" cy="42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FFFFFF"/>
                </a:solidFill>
              </a:defRPr>
            </a:lvl1pPr>
            <a:lvl2pPr marL="914400" lvl="1" indent="-304800" algn="l">
              <a:spcBef>
                <a:spcPts val="250"/>
              </a:spcBef>
              <a:spcAft>
                <a:spcPts val="0"/>
              </a:spcAft>
              <a:buSzPts val="1200"/>
              <a:buChar char="◦"/>
              <a:defRPr sz="1200">
                <a:solidFill>
                  <a:srgbClr val="FFFFFF"/>
                </a:solidFill>
              </a:defRPr>
            </a:lvl2pPr>
            <a:lvl3pPr marL="1371600" lvl="2" indent="-292100" algn="l">
              <a:spcBef>
                <a:spcPts val="25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rgbClr val="FFFFFF"/>
                </a:solidFill>
              </a:defRPr>
            </a:lvl3pPr>
            <a:lvl4pPr marL="1828800" lvl="3" indent="-292608" algn="l">
              <a:spcBef>
                <a:spcPts val="230"/>
              </a:spcBef>
              <a:spcAft>
                <a:spcPts val="0"/>
              </a:spcAft>
              <a:buSzPts val="1008"/>
              <a:buChar char="◦"/>
              <a:defRPr sz="900">
                <a:solidFill>
                  <a:srgbClr val="FFFFFF"/>
                </a:solidFill>
              </a:defRPr>
            </a:lvl4pPr>
            <a:lvl5pPr marL="2286000" lvl="4" indent="-285750" algn="l">
              <a:spcBef>
                <a:spcPts val="250"/>
              </a:spcBef>
              <a:spcAft>
                <a:spcPts val="0"/>
              </a:spcAft>
              <a:buSzPts val="900"/>
              <a:buChar char="●"/>
              <a:defRPr sz="900">
                <a:solidFill>
                  <a:srgbClr val="FFFFFF"/>
                </a:solidFill>
              </a:defRPr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34" name="Google Shape;234;p34"/>
          <p:cNvSpPr txBox="1">
            <a:spLocks noGrp="1"/>
          </p:cNvSpPr>
          <p:nvPr>
            <p:ph type="dt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4"/>
          <p:cNvSpPr txBox="1">
            <a:spLocks noGrp="1"/>
          </p:cNvSpPr>
          <p:nvPr>
            <p:ph type="ft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4"/>
          <p:cNvSpPr txBox="1">
            <a:spLocks noGrp="1"/>
          </p:cNvSpPr>
          <p:nvPr>
            <p:ph type="sldNum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7" name="Google Shape;237;p34"/>
          <p:cNvSpPr>
            <a:spLocks noGrp="1"/>
          </p:cNvSpPr>
          <p:nvPr>
            <p:ph type="pic" idx="2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rgbClr val="4F4D49"/>
          </a:solidFill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R="0" lvl="0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250"/>
              </a:spcBef>
              <a:spcAft>
                <a:spcPts val="0"/>
              </a:spcAft>
              <a:buClr>
                <a:srgbClr val="EF323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230"/>
              </a:spcBef>
              <a:spcAft>
                <a:spcPts val="0"/>
              </a:spcAft>
              <a:buClr>
                <a:srgbClr val="EF323E"/>
              </a:buClr>
              <a:buSzPts val="2128"/>
              <a:buFont typeface="Verdana"/>
              <a:buChar char="◦"/>
              <a:defRPr sz="19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250"/>
              </a:spcBef>
              <a:spcAft>
                <a:spcPts val="0"/>
              </a:spcAft>
              <a:buClr>
                <a:srgbClr val="4882BE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250"/>
              </a:spcBef>
              <a:spcAft>
                <a:spcPts val="0"/>
              </a:spcAft>
              <a:buClr>
                <a:srgbClr val="4882BE"/>
              </a:buClr>
              <a:buSzPts val="1700"/>
              <a:buFont typeface="Verdana"/>
              <a:buChar char="◦"/>
              <a:defRPr sz="17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255"/>
              </a:spcBef>
              <a:spcAft>
                <a:spcPts val="0"/>
              </a:spcAft>
              <a:buClr>
                <a:srgbClr val="4882BE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257"/>
              </a:spcBef>
              <a:spcAft>
                <a:spcPts val="0"/>
              </a:spcAft>
              <a:buClr>
                <a:srgbClr val="4882BE"/>
              </a:buClr>
              <a:buSzPts val="1500"/>
              <a:buFont typeface="Verdana"/>
              <a:buChar char="◦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255"/>
              </a:spcBef>
              <a:spcAft>
                <a:spcPts val="0"/>
              </a:spcAft>
              <a:buClr>
                <a:srgbClr val="4882BE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35"/>
          <p:cNvSpPr txBox="1">
            <a:spLocks noGrp="1"/>
          </p:cNvSpPr>
          <p:nvPr>
            <p:ph type="body" idx="1"/>
          </p:nvPr>
        </p:nvSpPr>
        <p:spPr>
          <a:xfrm rot="5400000">
            <a:off x="2500884" y="-1467612"/>
            <a:ext cx="4187952" cy="818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2004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56616" algn="l">
              <a:spcBef>
                <a:spcPts val="230"/>
              </a:spcBef>
              <a:spcAft>
                <a:spcPts val="0"/>
              </a:spcAft>
              <a:buSzPts val="2016"/>
              <a:buChar char="◦"/>
              <a:defRPr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41" name="Google Shape;241;p35"/>
          <p:cNvSpPr txBox="1">
            <a:spLocks noGrp="1"/>
          </p:cNvSpPr>
          <p:nvPr>
            <p:ph type="dt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5"/>
          <p:cNvSpPr txBox="1">
            <a:spLocks noGrp="1"/>
          </p:cNvSpPr>
          <p:nvPr>
            <p:ph type="ft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35"/>
          <p:cNvSpPr txBox="1">
            <a:spLocks noGrp="1"/>
          </p:cNvSpPr>
          <p:nvPr>
            <p:ph type="sldNum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>
            <a:spLocks noGrp="1"/>
          </p:cNvSpPr>
          <p:nvPr>
            <p:ph type="title"/>
          </p:nvPr>
        </p:nvSpPr>
        <p:spPr>
          <a:xfrm rot="5400000">
            <a:off x="4991100" y="2171704"/>
            <a:ext cx="5257799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6"/>
          <p:cNvSpPr txBox="1">
            <a:spLocks noGrp="1"/>
          </p:cNvSpPr>
          <p:nvPr>
            <p:ph type="body" idx="1"/>
          </p:nvPr>
        </p:nvSpPr>
        <p:spPr>
          <a:xfrm rot="5400000">
            <a:off x="876300" y="190503"/>
            <a:ext cx="5257801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2004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56616" algn="l">
              <a:spcBef>
                <a:spcPts val="230"/>
              </a:spcBef>
              <a:spcAft>
                <a:spcPts val="0"/>
              </a:spcAft>
              <a:buSzPts val="2016"/>
              <a:buChar char="◦"/>
              <a:defRPr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47" name="Google Shape;247;p36"/>
          <p:cNvSpPr txBox="1">
            <a:spLocks noGrp="1"/>
          </p:cNvSpPr>
          <p:nvPr>
            <p:ph type="dt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6"/>
          <p:cNvSpPr txBox="1">
            <a:spLocks noGrp="1"/>
          </p:cNvSpPr>
          <p:nvPr>
            <p:ph type="ft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36"/>
          <p:cNvSpPr txBox="1">
            <a:spLocks noGrp="1"/>
          </p:cNvSpPr>
          <p:nvPr>
            <p:ph type="sldNum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" name="Google Shape;265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1" name="Google Shape;271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77" name="Google Shape;277;p4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78" name="Google Shape;278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4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4" name="Google Shape;284;p4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85" name="Google Shape;285;p4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6" name="Google Shape;286;p4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87" name="Google Shape;287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4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02" name="Google Shape;302;p4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03" name="Google Shape;303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4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9" name="Google Shape;309;p4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10" name="Google Shape;310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47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EAD594"/>
              </a:buClr>
              <a:buSzPts val="4100"/>
              <a:buFont typeface="Lucida Sans"/>
              <a:buNone/>
              <a:defRPr sz="4100" b="1" i="0" u="none" strike="noStrike" cap="none">
                <a:solidFill>
                  <a:srgbClr val="EAD594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4170" algn="l" rtl="0">
              <a:spcBef>
                <a:spcPts val="560"/>
              </a:spcBef>
              <a:spcAft>
                <a:spcPts val="0"/>
              </a:spcAft>
              <a:buClr>
                <a:srgbClr val="F9F9F9"/>
              </a:buClr>
              <a:buSzPts val="1820"/>
              <a:buFont typeface="Noto Sans Symbols"/>
              <a:buChar char="▣"/>
              <a:defRPr sz="2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L="914400" marR="0" lvl="1" indent="-350519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Noto Sans Symbols"/>
              <a:buChar char="◼"/>
              <a:defRPr sz="24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L="1371600" marR="0" lvl="2" indent="-361314" algn="l" rtl="0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090"/>
              <a:buFont typeface="Noto Sans Symbols"/>
              <a:buChar char="🢭"/>
              <a:defRPr sz="22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🢝"/>
              <a:defRPr sz="20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🢝"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L="3657600" marR="0" lvl="7" indent="-31750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BABABA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BABABA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ABABA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ABABA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ABABA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ABABA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ABABA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ABABA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ABABA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ABABA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ABABA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13"/>
          <p:cNvCxnSpPr/>
          <p:nvPr/>
        </p:nvCxnSpPr>
        <p:spPr>
          <a:xfrm>
            <a:off x="514350" y="1050898"/>
            <a:ext cx="8629650" cy="238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304800" y="1554163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  <a:defRPr sz="32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5306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sz="28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3528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sz="24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sz="2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297179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sz="18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297179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sz="18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28956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sz="1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289559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sz="1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281940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cxnSp>
        <p:nvCxnSpPr>
          <p:cNvPr id="91" name="Google Shape;91;p13"/>
          <p:cNvCxnSpPr/>
          <p:nvPr/>
        </p:nvCxnSpPr>
        <p:spPr>
          <a:xfrm>
            <a:off x="514350" y="1050898"/>
            <a:ext cx="8629650" cy="238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" name="Google Shape;92;p13"/>
          <p:cNvCxnSpPr/>
          <p:nvPr/>
        </p:nvCxnSpPr>
        <p:spPr>
          <a:xfrm>
            <a:off x="514350" y="1057986"/>
            <a:ext cx="8629650" cy="238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>
            <a:gsLst>
              <a:gs pos="0">
                <a:schemeClr val="lt1"/>
              </a:gs>
              <a:gs pos="55000">
                <a:srgbClr val="DFDFDF"/>
              </a:gs>
              <a:gs pos="100000">
                <a:srgbClr val="9E9E9E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9" name="Google Shape;169;p25"/>
          <p:cNvSpPr txBox="1"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3600"/>
              <a:buFont typeface="Verdana"/>
              <a:buNone/>
              <a:defRPr sz="3600" b="1" i="0" u="none" strike="noStrike" cap="none">
                <a:solidFill>
                  <a:srgbClr val="FF8C3C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marR="0" lvl="0" indent="-370840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81000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68300" algn="l" rtl="0">
              <a:spcBef>
                <a:spcPts val="250"/>
              </a:spcBef>
              <a:spcAft>
                <a:spcPts val="0"/>
              </a:spcAft>
              <a:buClr>
                <a:srgbClr val="EF323E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63728" algn="l" rtl="0">
              <a:spcBef>
                <a:spcPts val="230"/>
              </a:spcBef>
              <a:spcAft>
                <a:spcPts val="0"/>
              </a:spcAft>
              <a:buClr>
                <a:srgbClr val="EF323E"/>
              </a:buClr>
              <a:buSzPts val="2128"/>
              <a:buFont typeface="Verdana"/>
              <a:buChar char="◦"/>
              <a:defRPr sz="19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spcBef>
                <a:spcPts val="250"/>
              </a:spcBef>
              <a:spcAft>
                <a:spcPts val="0"/>
              </a:spcAft>
              <a:buClr>
                <a:srgbClr val="4882BE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6550" algn="l" rtl="0">
              <a:spcBef>
                <a:spcPts val="250"/>
              </a:spcBef>
              <a:spcAft>
                <a:spcPts val="0"/>
              </a:spcAft>
              <a:buClr>
                <a:srgbClr val="4882BE"/>
              </a:buClr>
              <a:buSzPts val="1700"/>
              <a:buFont typeface="Verdana"/>
              <a:buChar char="◦"/>
              <a:defRPr sz="17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23850" algn="l" rtl="0">
              <a:spcBef>
                <a:spcPts val="255"/>
              </a:spcBef>
              <a:spcAft>
                <a:spcPts val="0"/>
              </a:spcAft>
              <a:buClr>
                <a:srgbClr val="4882BE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23850" algn="l" rtl="0">
              <a:spcBef>
                <a:spcPts val="257"/>
              </a:spcBef>
              <a:spcAft>
                <a:spcPts val="0"/>
              </a:spcAft>
              <a:buClr>
                <a:srgbClr val="4882BE"/>
              </a:buClr>
              <a:buSzPts val="1500"/>
              <a:buFont typeface="Verdana"/>
              <a:buChar char="◦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23850" algn="l" rtl="0">
              <a:spcBef>
                <a:spcPts val="255"/>
              </a:spcBef>
              <a:spcAft>
                <a:spcPts val="0"/>
              </a:spcAft>
              <a:buClr>
                <a:srgbClr val="4882BE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dt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A5A29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ft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A5A29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73" name="Google Shape;173;p25"/>
          <p:cNvSpPr txBox="1">
            <a:spLocks noGrp="1"/>
          </p:cNvSpPr>
          <p:nvPr>
            <p:ph type="sldNum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A5A29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A5A29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A5A29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A5A29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A5A29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A5A29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A5A29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A5A29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A5A29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2" name="Google Shape;252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3" name="Google Shape;253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4" name="Google Shape;254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5" name="Google Shape;255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9"/>
          <p:cNvSpPr txBox="1">
            <a:spLocks noGrp="1"/>
          </p:cNvSpPr>
          <p:nvPr>
            <p:ph type="ctrTitle"/>
          </p:nvPr>
        </p:nvSpPr>
        <p:spPr>
          <a:xfrm>
            <a:off x="71438" y="1142984"/>
            <a:ext cx="9001156" cy="350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AD594"/>
              </a:buClr>
              <a:buSzPts val="5400"/>
              <a:buFont typeface="Lucida Sans"/>
              <a:buNone/>
            </a:pPr>
            <a:r>
              <a:rPr lang="ru-RU" sz="5400"/>
              <a:t>ЖИЗНЕННЫЙ ЦИКЛ И ЭТАПЫ РАЗРАБОТКИ ПРОГРАММНОГО ОБЕСПЕЧЕНИЯ</a:t>
            </a:r>
            <a:endParaRPr sz="5400"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0"/>
          <p:cNvSpPr txBox="1">
            <a:spLocks noGrp="1"/>
          </p:cNvSpPr>
          <p:nvPr>
            <p:ph type="title"/>
          </p:nvPr>
        </p:nvSpPr>
        <p:spPr>
          <a:xfrm>
            <a:off x="214282" y="179343"/>
            <a:ext cx="8774270" cy="100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717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1"/>
              <a:t>ЖИЗНЕННЫЙ ЦИКЛ ПО.</a:t>
            </a:r>
            <a:endParaRPr sz="2200"/>
          </a:p>
        </p:txBody>
      </p:sp>
      <p:sp>
        <p:nvSpPr>
          <p:cNvPr id="336" name="Google Shape;336;p50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fld>
            <a:endParaRPr sz="1200">
              <a:solidFill>
                <a:srgbClr val="D28E28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37" name="Google Shape;337;p50"/>
          <p:cNvSpPr txBox="1"/>
          <p:nvPr/>
        </p:nvSpPr>
        <p:spPr>
          <a:xfrm>
            <a:off x="1714480" y="1181063"/>
            <a:ext cx="7274072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1" u="none" strike="noStrike" cap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Основным понятием программной инженерии является понятие жизненного цикла ПО.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1" i="1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Жизненный цикл ПО (software lifecycle) – </a:t>
            </a:r>
            <a:r>
              <a:rPr lang="ru-RU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это период времени, который начинается с момента принятия решения о необходимости создания ПО и заканчивается в момент его полного изъятия из эксплуатации. </a:t>
            </a:r>
            <a:endParaRPr/>
          </a:p>
        </p:txBody>
      </p:sp>
      <p:pic>
        <p:nvPicPr>
          <p:cNvPr id="338" name="Google Shape;338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6170" y="3596321"/>
            <a:ext cx="6592280" cy="502878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/>
          <p:cNvSpPr txBox="1"/>
          <p:nvPr/>
        </p:nvSpPr>
        <p:spPr>
          <a:xfrm>
            <a:off x="1798522" y="4677329"/>
            <a:ext cx="7274072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Основной нормативный документ, регламентирующий ЖЦ ПО – стандарт ISO/IEC 12207 “Information Technology – Software Life Cycle Processes” (ГОСТ Р ИСО/МЭК 12207-99).</a:t>
            </a:r>
            <a:endParaRPr sz="20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>
            <a:spLocks noGrp="1"/>
          </p:cNvSpPr>
          <p:nvPr>
            <p:ph type="sldNum" idx="12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fld>
            <a:endParaRPr sz="1200">
              <a:solidFill>
                <a:srgbClr val="D28E28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45" name="Google Shape;345;p51"/>
          <p:cNvSpPr/>
          <p:nvPr/>
        </p:nvSpPr>
        <p:spPr>
          <a:xfrm>
            <a:off x="1285852" y="2786058"/>
            <a:ext cx="7705749" cy="292895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EFC3BA"/>
              </a:gs>
              <a:gs pos="35000">
                <a:srgbClr val="F4D6CD"/>
              </a:gs>
              <a:gs pos="100000">
                <a:srgbClr val="FCEEEA"/>
              </a:gs>
            </a:gsLst>
            <a:lin ang="16200000" scaled="0"/>
          </a:gradFill>
          <a:ln w="9525" cap="flat" cmpd="sng">
            <a:solidFill>
              <a:srgbClr val="B186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Процесс жизненного цикла определяется как совокупность взаимосвязанных действий, преобразующих некоторые входные данные в выходные.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352" name="Google Shape;352;p52"/>
          <p:cNvSpPr txBox="1">
            <a:spLocks noGrp="1"/>
          </p:cNvSpPr>
          <p:nvPr>
            <p:ph type="title"/>
          </p:nvPr>
        </p:nvSpPr>
        <p:spPr>
          <a:xfrm>
            <a:off x="304800" y="14285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/>
              <a:t>СТРУКТУРА ПРОЦЕССОВ ЖИЗНЕННОГО ЦИКЛА ПРОГРАММНОГО ОБЕСПЕЧЕНИЯ</a:t>
            </a:r>
            <a:endParaRPr sz="2000"/>
          </a:p>
        </p:txBody>
      </p:sp>
      <p:sp>
        <p:nvSpPr>
          <p:cNvPr id="353" name="Google Shape;353;p52"/>
          <p:cNvSpPr/>
          <p:nvPr/>
        </p:nvSpPr>
        <p:spPr>
          <a:xfrm>
            <a:off x="71406" y="1214422"/>
            <a:ext cx="4286280" cy="24288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Основные процессы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Приобретение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Поставка</a:t>
            </a:r>
            <a:endParaRPr/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Разработка</a:t>
            </a:r>
            <a:endParaRPr/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Эксплуатация</a:t>
            </a:r>
            <a:endParaRPr/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Сопровождение</a:t>
            </a:r>
            <a:endParaRPr/>
          </a:p>
        </p:txBody>
      </p:sp>
      <p:sp>
        <p:nvSpPr>
          <p:cNvPr id="354" name="Google Shape;354;p52"/>
          <p:cNvSpPr/>
          <p:nvPr/>
        </p:nvSpPr>
        <p:spPr>
          <a:xfrm>
            <a:off x="5214942" y="1285860"/>
            <a:ext cx="3714776" cy="521497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114300" marR="0" lvl="1" indent="-1778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Schoolbook"/>
              <a:buChar char="•"/>
            </a:pPr>
            <a:r>
              <a:rPr lang="ru-RU" sz="28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Вспомогательные процессы</a:t>
            </a:r>
            <a:endParaRPr sz="2800" b="1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Документирование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Управление конфигурацией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Обеспечение качества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Верификация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Аттестация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Совместная оценка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Аудит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Разрешение проблем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55" name="Google Shape;355;p52"/>
          <p:cNvSpPr/>
          <p:nvPr/>
        </p:nvSpPr>
        <p:spPr>
          <a:xfrm>
            <a:off x="5357818" y="3697892"/>
            <a:ext cx="3492000" cy="21600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56" name="Google Shape;356;p52"/>
          <p:cNvSpPr/>
          <p:nvPr/>
        </p:nvSpPr>
        <p:spPr>
          <a:xfrm>
            <a:off x="71406" y="3929066"/>
            <a:ext cx="4286280" cy="257176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Организационные процессы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Управление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Усовершенствование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Создание инфраструктуры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Обучение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3"/>
          <p:cNvSpPr txBox="1">
            <a:spLocks noGrp="1"/>
          </p:cNvSpPr>
          <p:nvPr>
            <p:ph type="title"/>
          </p:nvPr>
        </p:nvSpPr>
        <p:spPr>
          <a:xfrm>
            <a:off x="457200" y="928670"/>
            <a:ext cx="8229600" cy="328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25600"/>
              </a:buClr>
              <a:buSzPts val="7200"/>
              <a:buFont typeface="Verdana"/>
              <a:buNone/>
            </a:pPr>
            <a:r>
              <a:rPr lang="ru-RU" sz="7200">
                <a:solidFill>
                  <a:srgbClr val="825600"/>
                </a:solidFill>
              </a:rPr>
              <a:t>Процесс разработки ПО</a:t>
            </a:r>
            <a:endParaRPr/>
          </a:p>
        </p:txBody>
      </p:sp>
      <p:sp>
        <p:nvSpPr>
          <p:cNvPr id="362" name="Google Shape;362;p53"/>
          <p:cNvSpPr txBox="1">
            <a:spLocks noGrp="1"/>
          </p:cNvSpPr>
          <p:nvPr>
            <p:ph type="sldNum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rgbClr val="A5A298"/>
                </a:solidFill>
              </a:rPr>
              <a:t>5</a:t>
            </a:fld>
            <a:endParaRPr>
              <a:solidFill>
                <a:srgbClr val="A5A298"/>
              </a:solidFill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369" name="Google Shape;369;p54"/>
          <p:cNvSpPr txBox="1">
            <a:spLocks noGrp="1"/>
          </p:cNvSpPr>
          <p:nvPr>
            <p:ph type="title"/>
          </p:nvPr>
        </p:nvSpPr>
        <p:spPr>
          <a:xfrm>
            <a:off x="304800" y="14285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/>
              <a:t>ПРОЦЕСС РАЗРАБОТКИ</a:t>
            </a:r>
            <a:endParaRPr sz="3200"/>
          </a:p>
        </p:txBody>
      </p:sp>
      <p:sp>
        <p:nvSpPr>
          <p:cNvPr id="370" name="Google Shape;370;p54"/>
          <p:cNvSpPr/>
          <p:nvPr/>
        </p:nvSpPr>
        <p:spPr>
          <a:xfrm>
            <a:off x="71405" y="1071546"/>
            <a:ext cx="9036000" cy="108432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1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Процесс разработки в соответствии со стандартом предусматривает действия и задачи, выполняемые разработчиком</a:t>
            </a:r>
            <a:endParaRPr sz="1800" b="1" i="0" u="none" strike="noStrike" cap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71" name="Google Shape;371;p54"/>
          <p:cNvSpPr/>
          <p:nvPr/>
        </p:nvSpPr>
        <p:spPr>
          <a:xfrm>
            <a:off x="71405" y="2318514"/>
            <a:ext cx="9036000" cy="108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</a:pP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54"/>
          <p:cNvSpPr/>
          <p:nvPr/>
        </p:nvSpPr>
        <p:spPr>
          <a:xfrm>
            <a:off x="71405" y="3565482"/>
            <a:ext cx="9036000" cy="108432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1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Процесс разработки охватывает работы по созданию программного обеспечения и его компонентов в соответствии с заданными </a:t>
            </a:r>
            <a:r>
              <a:rPr lang="ru-RU" sz="1800" b="1" i="1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требованиями</a:t>
            </a:r>
            <a:endParaRPr sz="1800" b="1" i="0" u="none" strike="noStrike" cap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73" name="Google Shape;373;p54"/>
          <p:cNvSpPr/>
          <p:nvPr/>
        </p:nvSpPr>
        <p:spPr>
          <a:xfrm>
            <a:off x="71405" y="4812450"/>
            <a:ext cx="9036000" cy="108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entury Schoolbook"/>
              <a:buChar char="•"/>
            </a:pPr>
            <a:r>
              <a:rPr lang="ru-RU" sz="1800" b="0" i="1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включая:</a:t>
            </a: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marR="0" lvl="1" indent="-114300" algn="l" rtl="0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entury Schoolbook"/>
              <a:buChar char="•"/>
            </a:pPr>
            <a:r>
              <a:rPr lang="ru-RU" sz="1800" b="0" i="1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оформление проектной и эксплуатационной документации;</a:t>
            </a: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marR="0" lvl="1" indent="-114300" algn="l" rtl="0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entury Schoolbook"/>
              <a:buChar char="•"/>
            </a:pPr>
            <a:r>
              <a:rPr lang="ru-RU" sz="1800" b="0" i="1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подготовку материалов, необходимых для проверки работоспособности и соответствия качества программных продуктов; </a:t>
            </a: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marR="0" lvl="1" indent="-114300" algn="l" rtl="0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entury Schoolbook"/>
              <a:buChar char="•"/>
            </a:pPr>
            <a:r>
              <a:rPr lang="ru-RU" sz="1800" b="0" i="1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подготовку материалов, необходимых для обучения персонала; </a:t>
            </a: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marR="0" lvl="1" indent="-114300" algn="l" rtl="0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entury Schoolbook"/>
              <a:buChar char="•"/>
            </a:pPr>
            <a:r>
              <a:rPr lang="ru-RU" sz="1800" b="0" i="1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и т.д.</a:t>
            </a: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5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380" name="Google Shape;380;p55"/>
          <p:cNvSpPr txBox="1">
            <a:spLocks noGrp="1"/>
          </p:cNvSpPr>
          <p:nvPr>
            <p:ph type="title"/>
          </p:nvPr>
        </p:nvSpPr>
        <p:spPr>
          <a:xfrm>
            <a:off x="304800" y="14285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/>
              <a:t>ДЕЙСТВИЯ В ПРОЦЕССЕ РАЗРАБОТКИ </a:t>
            </a:r>
            <a:br>
              <a:rPr lang="ru-RU" sz="2000" b="1"/>
            </a:br>
            <a:r>
              <a:rPr lang="ru-RU" sz="2000" b="1"/>
              <a:t>( </a:t>
            </a:r>
            <a:r>
              <a:rPr lang="ru-RU" sz="2000" b="1" cap="none"/>
              <a:t>по стандарту </a:t>
            </a:r>
            <a:r>
              <a:rPr lang="ru-RU" sz="2000" b="1"/>
              <a:t>)</a:t>
            </a:r>
            <a:endParaRPr sz="2000"/>
          </a:p>
        </p:txBody>
      </p:sp>
      <p:sp>
        <p:nvSpPr>
          <p:cNvPr id="381" name="Google Shape;381;p55"/>
          <p:cNvSpPr/>
          <p:nvPr/>
        </p:nvSpPr>
        <p:spPr>
          <a:xfrm>
            <a:off x="2102172" y="1071546"/>
            <a:ext cx="4974466" cy="59693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☞	</a:t>
            </a:r>
            <a:r>
              <a:rPr lang="ru-RU" sz="1800" b="1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подготовительная работа</a:t>
            </a:r>
            <a:endParaRPr sz="1800" b="1" i="0" u="none" strike="noStrike" cap="none" dirty="0">
              <a:solidFill>
                <a:schemeClr val="tx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82" name="Google Shape;382;p55"/>
          <p:cNvSpPr/>
          <p:nvPr/>
        </p:nvSpPr>
        <p:spPr>
          <a:xfrm>
            <a:off x="2102172" y="1758022"/>
            <a:ext cx="4974466" cy="59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выбор модели жизненного цикла, стандартов, методов и средств разработки, а также составление плана работ</a:t>
            </a: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55"/>
          <p:cNvSpPr/>
          <p:nvPr/>
        </p:nvSpPr>
        <p:spPr>
          <a:xfrm>
            <a:off x="2102172" y="2832034"/>
            <a:ext cx="4974466" cy="59693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☞	</a:t>
            </a:r>
            <a:r>
              <a:rPr lang="ru-RU" sz="1800" b="1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анализ требований к системе</a:t>
            </a:r>
            <a:endParaRPr sz="1800" b="1" i="0" u="none" strike="noStrike" cap="none" dirty="0">
              <a:solidFill>
                <a:schemeClr val="tx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84" name="Google Shape;384;p55"/>
          <p:cNvSpPr/>
          <p:nvPr/>
        </p:nvSpPr>
        <p:spPr>
          <a:xfrm>
            <a:off x="2102172" y="3665128"/>
            <a:ext cx="4974466" cy="59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определение её функциональных возможностей, пользовательских требований, требований к надёжности и безопасности, требований к внешним интерфейсам и т.д.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5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380" name="Google Shape;380;p55"/>
          <p:cNvSpPr txBox="1">
            <a:spLocks noGrp="1"/>
          </p:cNvSpPr>
          <p:nvPr>
            <p:ph type="title"/>
          </p:nvPr>
        </p:nvSpPr>
        <p:spPr>
          <a:xfrm>
            <a:off x="304800" y="14285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/>
              <a:t>ДЕЙСТВИЯ В ПРОЦЕССЕ РАЗРАБОТКИ </a:t>
            </a:r>
            <a:br>
              <a:rPr lang="ru-RU" sz="2000" b="1"/>
            </a:br>
            <a:r>
              <a:rPr lang="ru-RU" sz="2000" b="1"/>
              <a:t>( </a:t>
            </a:r>
            <a:r>
              <a:rPr lang="ru-RU" sz="2000" b="1" cap="none"/>
              <a:t>по стандарту </a:t>
            </a:r>
            <a:r>
              <a:rPr lang="ru-RU" sz="2000" b="1"/>
              <a:t>)</a:t>
            </a:r>
            <a:endParaRPr sz="2000"/>
          </a:p>
        </p:txBody>
      </p:sp>
      <p:sp>
        <p:nvSpPr>
          <p:cNvPr id="385" name="Google Shape;385;p55"/>
          <p:cNvSpPr/>
          <p:nvPr/>
        </p:nvSpPr>
        <p:spPr>
          <a:xfrm>
            <a:off x="2020690" y="1137624"/>
            <a:ext cx="4974466" cy="59693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☞	</a:t>
            </a:r>
            <a:r>
              <a:rPr lang="ru-RU" sz="1800" b="1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проектирование архитектуры системы</a:t>
            </a:r>
            <a:endParaRPr sz="1800" b="1" i="0" u="none" strike="noStrike" cap="none" dirty="0">
              <a:solidFill>
                <a:schemeClr val="tx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86" name="Google Shape;386;p55"/>
          <p:cNvSpPr/>
          <p:nvPr/>
        </p:nvSpPr>
        <p:spPr>
          <a:xfrm>
            <a:off x="2102172" y="1891132"/>
            <a:ext cx="4974466" cy="888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определение состава необходимого оборудования, программного обеспечения и операций, выполняемых обслуживающим персоналом</a:t>
            </a:r>
            <a:endParaRPr dirty="0"/>
          </a:p>
        </p:txBody>
      </p:sp>
      <p:sp>
        <p:nvSpPr>
          <p:cNvPr id="387" name="Google Shape;387;p55"/>
          <p:cNvSpPr/>
          <p:nvPr/>
        </p:nvSpPr>
        <p:spPr>
          <a:xfrm>
            <a:off x="2102172" y="3243906"/>
            <a:ext cx="4974466" cy="59693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☞	</a:t>
            </a:r>
            <a:r>
              <a:rPr lang="ru-RU" sz="1800" b="1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анализ требований к программному обеспечению</a:t>
            </a:r>
            <a:endParaRPr sz="1800" b="1" i="1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55"/>
          <p:cNvSpPr/>
          <p:nvPr/>
        </p:nvSpPr>
        <p:spPr>
          <a:xfrm>
            <a:off x="2102172" y="4111451"/>
            <a:ext cx="4974466" cy="1963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определение функциональных возможностей, включая характеристики производительности, среды функционирования компонентов, внешних интерфейсов, спецификаций надёжности и безопасности, эргономических требований, требований к используемым данным, установке, приёмке, пользовательской документации, эксплуатации и сопровождению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914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6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395" name="Google Shape;395;p56"/>
          <p:cNvSpPr txBox="1">
            <a:spLocks noGrp="1"/>
          </p:cNvSpPr>
          <p:nvPr>
            <p:ph type="title"/>
          </p:nvPr>
        </p:nvSpPr>
        <p:spPr>
          <a:xfrm>
            <a:off x="304800" y="14285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/>
              <a:t>ДЕЙСТВИЯ В ПРОЦЕССЕ РАЗРАБОТКИ </a:t>
            </a:r>
            <a:br>
              <a:rPr lang="ru-RU" sz="2000" b="1"/>
            </a:br>
            <a:r>
              <a:rPr lang="ru-RU" sz="2000" b="1"/>
              <a:t>( </a:t>
            </a:r>
            <a:r>
              <a:rPr lang="ru-RU" sz="2000" b="1" cap="none"/>
              <a:t>по стандарту </a:t>
            </a:r>
            <a:r>
              <a:rPr lang="ru-RU" sz="2000" b="1"/>
              <a:t>)</a:t>
            </a:r>
            <a:endParaRPr sz="2000"/>
          </a:p>
        </p:txBody>
      </p:sp>
      <p:sp>
        <p:nvSpPr>
          <p:cNvPr id="396" name="Google Shape;396;p56"/>
          <p:cNvSpPr/>
          <p:nvPr/>
        </p:nvSpPr>
        <p:spPr>
          <a:xfrm>
            <a:off x="2102172" y="1071546"/>
            <a:ext cx="4974466" cy="59693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☞	</a:t>
            </a:r>
            <a:r>
              <a:rPr lang="ru-RU" sz="1800" b="1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проектирование архитектуры программного обеспечения</a:t>
            </a:r>
            <a:endParaRPr sz="1800" b="1" i="0" u="none" strike="noStrike" cap="none" dirty="0">
              <a:solidFill>
                <a:schemeClr val="tx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97" name="Google Shape;397;p56"/>
          <p:cNvSpPr/>
          <p:nvPr/>
        </p:nvSpPr>
        <p:spPr>
          <a:xfrm>
            <a:off x="2102172" y="1758022"/>
            <a:ext cx="4974466" cy="59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определение структуры программного обеспечения, документирование интерфейсов его компонентов, разработку предварительной версии пользовательской документации, а также требований к тестам и плана интеграции</a:t>
            </a:r>
            <a:endParaRPr/>
          </a:p>
        </p:txBody>
      </p:sp>
      <p:sp>
        <p:nvSpPr>
          <p:cNvPr id="398" name="Google Shape;398;p56"/>
          <p:cNvSpPr/>
          <p:nvPr/>
        </p:nvSpPr>
        <p:spPr>
          <a:xfrm>
            <a:off x="2102172" y="3150669"/>
            <a:ext cx="4974466" cy="59693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☞	</a:t>
            </a:r>
            <a:r>
              <a:rPr lang="ru-RU" sz="1800" b="1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детальное проектирование программного обеспечения</a:t>
            </a:r>
            <a:endParaRPr sz="1800" b="1" i="0" u="none" strike="noStrike" cap="none" dirty="0">
              <a:solidFill>
                <a:schemeClr val="tx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99" name="Google Shape;399;p56"/>
          <p:cNvSpPr/>
          <p:nvPr/>
        </p:nvSpPr>
        <p:spPr>
          <a:xfrm>
            <a:off x="2102172" y="3837145"/>
            <a:ext cx="4974466" cy="59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подробное описание компонентов программного обеспечения и интерфейсов между ними, обновление пользовательской документации, разработка и документирование требований к тестам и плана тестирования компонентов программного обеспечения, обновление плана интеграции компонентов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6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395" name="Google Shape;395;p56"/>
          <p:cNvSpPr txBox="1">
            <a:spLocks noGrp="1"/>
          </p:cNvSpPr>
          <p:nvPr>
            <p:ph type="title"/>
          </p:nvPr>
        </p:nvSpPr>
        <p:spPr>
          <a:xfrm>
            <a:off x="304800" y="14285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/>
              <a:t>ДЕЙСТВИЯ В ПРОЦЕССЕ РАЗРАБОТКИ </a:t>
            </a:r>
            <a:br>
              <a:rPr lang="ru-RU" sz="2000" b="1"/>
            </a:br>
            <a:r>
              <a:rPr lang="ru-RU" sz="2000" b="1"/>
              <a:t>( </a:t>
            </a:r>
            <a:r>
              <a:rPr lang="ru-RU" sz="2000" b="1" cap="none"/>
              <a:t>по стандарту </a:t>
            </a:r>
            <a:r>
              <a:rPr lang="ru-RU" sz="2000" b="1"/>
              <a:t>)</a:t>
            </a:r>
            <a:endParaRPr sz="2000"/>
          </a:p>
        </p:txBody>
      </p:sp>
      <p:sp>
        <p:nvSpPr>
          <p:cNvPr id="400" name="Google Shape;400;p56"/>
          <p:cNvSpPr/>
          <p:nvPr/>
        </p:nvSpPr>
        <p:spPr>
          <a:xfrm>
            <a:off x="1984476" y="1228159"/>
            <a:ext cx="4974466" cy="59693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☞	</a:t>
            </a:r>
            <a:r>
              <a:rPr lang="ru-RU" sz="1800" b="1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кодирование и тестирование программного обеспечения</a:t>
            </a:r>
            <a:endParaRPr sz="1800" b="1" i="1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56"/>
          <p:cNvSpPr/>
          <p:nvPr/>
        </p:nvSpPr>
        <p:spPr>
          <a:xfrm>
            <a:off x="2102172" y="1914635"/>
            <a:ext cx="4974466" cy="59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и документирование каждого компонента, а также совокупности тестовых процедур и данных для их тестирования, тестирование компонентов, обновление пользовательской документации, обновление плана интеграции программного обеспечения</a:t>
            </a:r>
            <a:endParaRPr dirty="0"/>
          </a:p>
        </p:txBody>
      </p:sp>
      <p:sp>
        <p:nvSpPr>
          <p:cNvPr id="402" name="Google Shape;402;p56"/>
          <p:cNvSpPr/>
          <p:nvPr/>
        </p:nvSpPr>
        <p:spPr>
          <a:xfrm>
            <a:off x="1984476" y="3298820"/>
            <a:ext cx="4974466" cy="59693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☞	</a:t>
            </a:r>
            <a:r>
              <a:rPr lang="ru-RU" sz="1800" b="1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интеграция программного обеспечения</a:t>
            </a:r>
            <a:endParaRPr sz="1800" b="1" i="1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56"/>
          <p:cNvSpPr/>
          <p:nvPr/>
        </p:nvSpPr>
        <p:spPr>
          <a:xfrm>
            <a:off x="2160967" y="4165773"/>
            <a:ext cx="4974466" cy="59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сборка программных компонентов в соответствии с планом интеграции и тестирование программного обеспечения на соответствие квалификационным требованиям, представляющих собой набор критериев или условий, которые необходимо выполнить, чтобы квалифицировать программный продукт, как соответствующий своим спецификациям и готовый к использованию в заданных условиях эксплуатации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102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7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410" name="Google Shape;410;p57"/>
          <p:cNvSpPr txBox="1">
            <a:spLocks noGrp="1"/>
          </p:cNvSpPr>
          <p:nvPr>
            <p:ph type="title"/>
          </p:nvPr>
        </p:nvSpPr>
        <p:spPr>
          <a:xfrm>
            <a:off x="304800" y="14285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/>
              <a:t>ДЕЙСТВИЯ В ПРОЦЕССЕ РАЗРАБОТКИ </a:t>
            </a:r>
            <a:br>
              <a:rPr lang="ru-RU" sz="2000" b="1"/>
            </a:br>
            <a:r>
              <a:rPr lang="ru-RU" sz="2000" b="1"/>
              <a:t>( </a:t>
            </a:r>
            <a:r>
              <a:rPr lang="ru-RU" sz="2000" b="1" cap="none"/>
              <a:t>по стандарту </a:t>
            </a:r>
            <a:r>
              <a:rPr lang="ru-RU" sz="2000" b="1"/>
              <a:t>)</a:t>
            </a:r>
            <a:endParaRPr sz="2000"/>
          </a:p>
        </p:txBody>
      </p:sp>
      <p:sp>
        <p:nvSpPr>
          <p:cNvPr id="411" name="Google Shape;411;p57"/>
          <p:cNvSpPr/>
          <p:nvPr/>
        </p:nvSpPr>
        <p:spPr>
          <a:xfrm>
            <a:off x="1792586" y="1071547"/>
            <a:ext cx="5377759" cy="475971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☞	</a:t>
            </a:r>
            <a:r>
              <a:rPr lang="ru-RU" sz="1800" b="1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квалификационное тестирование программного обеспечения </a:t>
            </a:r>
            <a:endParaRPr sz="1800" b="1" i="0" u="none" strike="noStrike" cap="none" dirty="0">
              <a:solidFill>
                <a:schemeClr val="tx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12" name="Google Shape;412;p57"/>
          <p:cNvSpPr/>
          <p:nvPr/>
        </p:nvSpPr>
        <p:spPr>
          <a:xfrm>
            <a:off x="2606192" y="1618913"/>
            <a:ext cx="3966425" cy="47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тестирование программного обеспечения в присутствии заказчика для демонстрации его соответствия требованиям и готовности к эксплуатации; </a:t>
            </a:r>
            <a:endParaRPr/>
          </a:p>
          <a:p>
            <a:pPr marL="114300" marR="0" lvl="1" indent="-114300" algn="l" rtl="0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 этом проверяются также готовность и полнота технической и пользовательской документации.</a:t>
            </a:r>
            <a:endParaRPr/>
          </a:p>
        </p:txBody>
      </p:sp>
      <p:sp>
        <p:nvSpPr>
          <p:cNvPr id="413" name="Google Shape;413;p57"/>
          <p:cNvSpPr/>
          <p:nvPr/>
        </p:nvSpPr>
        <p:spPr>
          <a:xfrm>
            <a:off x="1792587" y="3410996"/>
            <a:ext cx="5377758" cy="475971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☞	</a:t>
            </a:r>
            <a:r>
              <a:rPr lang="ru-RU" sz="1800" b="1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интеграция системы</a:t>
            </a:r>
            <a:endParaRPr sz="1800" b="1" i="0" u="none" strike="noStrike" cap="none" dirty="0">
              <a:solidFill>
                <a:schemeClr val="tx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14" name="Google Shape;414;p57"/>
          <p:cNvSpPr/>
          <p:nvPr/>
        </p:nvSpPr>
        <p:spPr>
          <a:xfrm>
            <a:off x="2664986" y="4045054"/>
            <a:ext cx="3966425" cy="47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сборка всех компонентов системы, включая программное обеспечение и оборудование</a:t>
            </a:r>
            <a:endParaRPr dirty="0"/>
          </a:p>
        </p:txBody>
      </p:sp>
      <p:sp>
        <p:nvSpPr>
          <p:cNvPr id="415" name="Google Shape;415;p57"/>
          <p:cNvSpPr/>
          <p:nvPr/>
        </p:nvSpPr>
        <p:spPr>
          <a:xfrm>
            <a:off x="1720159" y="4884022"/>
            <a:ext cx="5549774" cy="475971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☞	</a:t>
            </a:r>
            <a:r>
              <a:rPr lang="ru-RU" sz="1800" b="1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квалификационное тестирование системы</a:t>
            </a:r>
            <a:endParaRPr sz="1800" b="1" i="1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57"/>
          <p:cNvSpPr/>
          <p:nvPr/>
        </p:nvSpPr>
        <p:spPr>
          <a:xfrm>
            <a:off x="2664987" y="5610016"/>
            <a:ext cx="3966425" cy="47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тестирование системы на соответствие требованиям к ней</a:t>
            </a:r>
            <a:r>
              <a:rPr lang="ru-RU" sz="1800" b="0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7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410" name="Google Shape;410;p57"/>
          <p:cNvSpPr txBox="1">
            <a:spLocks noGrp="1"/>
          </p:cNvSpPr>
          <p:nvPr>
            <p:ph type="title"/>
          </p:nvPr>
        </p:nvSpPr>
        <p:spPr>
          <a:xfrm>
            <a:off x="304800" y="14285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/>
              <a:t>ДЕЙСТВИЯ В ПРОЦЕССЕ РАЗРАБОТКИ </a:t>
            </a:r>
            <a:br>
              <a:rPr lang="ru-RU" sz="2000" b="1"/>
            </a:br>
            <a:r>
              <a:rPr lang="ru-RU" sz="2000" b="1"/>
              <a:t>( </a:t>
            </a:r>
            <a:r>
              <a:rPr lang="ru-RU" sz="2000" b="1" cap="none"/>
              <a:t>по стандарту </a:t>
            </a:r>
            <a:r>
              <a:rPr lang="ru-RU" sz="2000" b="1"/>
              <a:t>)</a:t>
            </a:r>
            <a:endParaRPr sz="2000"/>
          </a:p>
        </p:txBody>
      </p:sp>
      <p:sp>
        <p:nvSpPr>
          <p:cNvPr id="417" name="Google Shape;417;p57"/>
          <p:cNvSpPr/>
          <p:nvPr/>
        </p:nvSpPr>
        <p:spPr>
          <a:xfrm>
            <a:off x="2388909" y="1313778"/>
            <a:ext cx="3966425" cy="475971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☞	</a:t>
            </a:r>
            <a:r>
              <a:rPr lang="ru-RU" sz="1800" b="1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установка программного обеспечения</a:t>
            </a:r>
            <a:endParaRPr sz="1800" b="1" i="1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57"/>
          <p:cNvSpPr/>
          <p:nvPr/>
        </p:nvSpPr>
        <p:spPr>
          <a:xfrm>
            <a:off x="2388908" y="2122475"/>
            <a:ext cx="3966425" cy="47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установка программного обеспечения на оборудовании заказчика</a:t>
            </a:r>
            <a:endParaRPr dirty="0"/>
          </a:p>
          <a:p>
            <a:pPr marL="114300" marR="0" lvl="1" indent="-114300" algn="l" rtl="0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проверка его работоспособности</a:t>
            </a:r>
            <a:endParaRPr dirty="0"/>
          </a:p>
        </p:txBody>
      </p:sp>
      <p:sp>
        <p:nvSpPr>
          <p:cNvPr id="419" name="Google Shape;419;p57"/>
          <p:cNvSpPr/>
          <p:nvPr/>
        </p:nvSpPr>
        <p:spPr>
          <a:xfrm>
            <a:off x="2388907" y="3417823"/>
            <a:ext cx="3966425" cy="475971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☞	</a:t>
            </a:r>
            <a:r>
              <a:rPr lang="ru-RU" sz="1800" b="1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приёмка программного обеспечения</a:t>
            </a:r>
            <a:endParaRPr sz="1800" b="1" i="1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57"/>
          <p:cNvSpPr/>
          <p:nvPr/>
        </p:nvSpPr>
        <p:spPr>
          <a:xfrm>
            <a:off x="2388906" y="4069453"/>
            <a:ext cx="3966425" cy="47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результатов квалификационного тестирования программного обеспечения и системы в целом и документирование результатов оценки совместно с заказчиком, </a:t>
            </a:r>
            <a:endParaRPr dirty="0"/>
          </a:p>
          <a:p>
            <a:pPr marL="114300" marR="0" lvl="1" indent="-114300" algn="l" rtl="0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окончательная передача программного обеспечения заказчику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76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8"/>
          <p:cNvSpPr txBox="1">
            <a:spLocks noGrp="1"/>
          </p:cNvSpPr>
          <p:nvPr>
            <p:ph type="title"/>
          </p:nvPr>
        </p:nvSpPr>
        <p:spPr>
          <a:xfrm>
            <a:off x="457200" y="857232"/>
            <a:ext cx="8229600" cy="428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25600"/>
              </a:buClr>
              <a:buSzPts val="7200"/>
              <a:buFont typeface="Verdana"/>
              <a:buNone/>
            </a:pPr>
            <a:r>
              <a:rPr lang="ru-RU" sz="7200">
                <a:solidFill>
                  <a:srgbClr val="825600"/>
                </a:solidFill>
              </a:rPr>
              <a:t>Этапы разработки программного обеспечения</a:t>
            </a:r>
            <a:endParaRPr/>
          </a:p>
        </p:txBody>
      </p:sp>
      <p:sp>
        <p:nvSpPr>
          <p:cNvPr id="426" name="Google Shape;426;p58"/>
          <p:cNvSpPr txBox="1">
            <a:spLocks noGrp="1"/>
          </p:cNvSpPr>
          <p:nvPr>
            <p:ph type="sldNum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rgbClr val="A5A298"/>
                </a:solidFill>
              </a:rPr>
              <a:t>13</a:t>
            </a:fld>
            <a:endParaRPr>
              <a:solidFill>
                <a:srgbClr val="A5A298"/>
              </a:solidFill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9"/>
          <p:cNvSpPr txBox="1">
            <a:spLocks noGrp="1"/>
          </p:cNvSpPr>
          <p:nvPr>
            <p:ph type="title"/>
          </p:nvPr>
        </p:nvSpPr>
        <p:spPr>
          <a:xfrm>
            <a:off x="214282" y="179343"/>
            <a:ext cx="8774270" cy="100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717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1"/>
              <a:t>ЭТАПЫ РАЗРАБОТКИ ПО</a:t>
            </a:r>
            <a:endParaRPr sz="3200"/>
          </a:p>
        </p:txBody>
      </p:sp>
      <p:sp>
        <p:nvSpPr>
          <p:cNvPr id="433" name="Google Shape;433;p59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14</a:t>
            </a:fld>
            <a:endParaRPr sz="1200">
              <a:solidFill>
                <a:srgbClr val="D28E28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34" name="Google Shape;434;p59"/>
          <p:cNvSpPr txBox="1"/>
          <p:nvPr/>
        </p:nvSpPr>
        <p:spPr>
          <a:xfrm>
            <a:off x="1357290" y="1181063"/>
            <a:ext cx="7776000" cy="477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6575" marR="0" lvl="4" indent="-536575" algn="just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Noto Sans Symbols"/>
              <a:buChar char="✔"/>
            </a:pPr>
            <a:r>
              <a:rPr lang="ru-RU" sz="24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Указанные выше действия можно сгруппировать, условно выделив основные этапы разработки программного обеспечения.</a:t>
            </a:r>
            <a:endParaRPr/>
          </a:p>
          <a:p>
            <a:pPr marL="536575" marR="0" lvl="4" indent="-536575" algn="just" rtl="0">
              <a:spcBef>
                <a:spcPts val="240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Noto Sans Symbols"/>
              <a:buChar char="✔"/>
            </a:pPr>
            <a:r>
              <a:rPr lang="ru-RU" sz="24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Условность выделения этапов связана с тем, что на любом этапе возможно принятие решений, которые потребуют пересмотра решений, принятых ранее.</a:t>
            </a:r>
            <a:endParaRPr/>
          </a:p>
          <a:p>
            <a:pPr marL="536575" marR="0" lvl="4" indent="-536575" algn="just" rtl="0">
              <a:spcBef>
                <a:spcPts val="240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Noto Sans Symbols"/>
              <a:buChar char="✔"/>
            </a:pPr>
            <a:r>
              <a:rPr lang="ru-RU" sz="24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Каждому этапу можно поставить в соответствие стадию разработки по </a:t>
            </a:r>
            <a:r>
              <a:rPr lang="ru-RU" sz="24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ГОСТ</a:t>
            </a:r>
            <a:r>
              <a:rPr lang="ru-RU" sz="2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ru-RU" sz="24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19.102–77 «Стадии разработки».</a:t>
            </a:r>
            <a:endParaRPr sz="2400" b="1" i="1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0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  <p:sp>
        <p:nvSpPr>
          <p:cNvPr id="441" name="Google Shape;441;p60"/>
          <p:cNvSpPr txBox="1">
            <a:spLocks noGrp="1"/>
          </p:cNvSpPr>
          <p:nvPr>
            <p:ph type="title"/>
          </p:nvPr>
        </p:nvSpPr>
        <p:spPr>
          <a:xfrm>
            <a:off x="304800" y="14285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cap="none"/>
              <a:t>Этапы и стадии разработки </a:t>
            </a:r>
            <a:r>
              <a:rPr lang="ru-RU" b="1"/>
              <a:t>ПО</a:t>
            </a:r>
            <a:endParaRPr/>
          </a:p>
        </p:txBody>
      </p:sp>
      <p:graphicFrame>
        <p:nvGraphicFramePr>
          <p:cNvPr id="442" name="Google Shape;442;p60"/>
          <p:cNvGraphicFramePr/>
          <p:nvPr/>
        </p:nvGraphicFramePr>
        <p:xfrm>
          <a:off x="304800" y="1214420"/>
          <a:ext cx="8686800" cy="5072100"/>
        </p:xfrm>
        <a:graphic>
          <a:graphicData uri="http://schemas.openxmlformats.org/drawingml/2006/table">
            <a:tbl>
              <a:tblPr firstRow="1" bandRow="1">
                <a:gradFill>
                  <a:gsLst>
                    <a:gs pos="0">
                      <a:srgbClr val="E3D8BA"/>
                    </a:gs>
                    <a:gs pos="35000">
                      <a:srgbClr val="EBE3CE"/>
                    </a:gs>
                    <a:gs pos="100000">
                      <a:srgbClr val="F9F5EB"/>
                    </a:gs>
                  </a:gsLst>
                  <a:lin ang="16200000" scaled="0"/>
                </a:gradFill>
                <a:tableStyleId>{2A181127-12AE-43AD-9B5F-64207492F349}</a:tableStyleId>
              </a:tblPr>
              <a:tblGrid>
                <a:gridCol w="4052875"/>
                <a:gridCol w="4633925"/>
              </a:tblGrid>
              <a:tr h="1067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4000" b="1" u="none" strike="noStrike" cap="none"/>
                        <a:t>ЭТАПЫ</a:t>
                      </a:r>
                      <a:endParaRPr sz="4000" b="1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4000" b="1" u="none" strike="noStrike" cap="none"/>
                        <a:t>СТАДИИ</a:t>
                      </a:r>
                      <a:endParaRPr sz="4000" b="1" u="none" strike="noStrike" cap="none"/>
                    </a:p>
                  </a:txBody>
                  <a:tcPr marL="91450" marR="91450" marT="45725" marB="45725" anchor="ctr"/>
                </a:tc>
              </a:tr>
              <a:tr h="100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Постановка задачи </a:t>
                      </a:r>
                      <a:endParaRPr sz="2000" b="1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«Техническое задание»</a:t>
                      </a:r>
                      <a:endParaRPr sz="2000" b="1" u="none" strike="noStrike" cap="none"/>
                    </a:p>
                  </a:txBody>
                  <a:tcPr marL="91450" marR="91450" marT="45725" marB="45725" anchor="ctr"/>
                </a:tc>
              </a:tr>
              <a:tr h="100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Анализ требований и разработка спецификаций </a:t>
                      </a:r>
                      <a:endParaRPr sz="2000" b="1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«Эскизный проект»</a:t>
                      </a:r>
                      <a:endParaRPr sz="2000" b="1" u="none" strike="noStrike" cap="none"/>
                    </a:p>
                  </a:txBody>
                  <a:tcPr marL="91450" marR="91450" marT="45725" marB="45725" anchor="ctr"/>
                </a:tc>
              </a:tr>
              <a:tr h="100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Проектирование</a:t>
                      </a:r>
                      <a:endParaRPr sz="2000" b="1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«Технический проект»</a:t>
                      </a:r>
                      <a:endParaRPr sz="2000" b="1" u="none" strike="noStrike" cap="none"/>
                    </a:p>
                  </a:txBody>
                  <a:tcPr marL="91450" marR="91450" marT="45725" marB="45725" anchor="ctr"/>
                </a:tc>
              </a:tr>
              <a:tr h="100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Реализация</a:t>
                      </a:r>
                      <a:endParaRPr sz="2000" b="1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«Рабочий проект»</a:t>
                      </a:r>
                      <a:endParaRPr sz="2000" b="1" u="none" strike="noStrike" cap="none"/>
                    </a:p>
                  </a:txBody>
                  <a:tcPr marL="91450" marR="91450" marT="45725" marB="457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1"/>
          <p:cNvSpPr txBox="1">
            <a:spLocks noGrp="1"/>
          </p:cNvSpPr>
          <p:nvPr>
            <p:ph type="sldNum" idx="12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16</a:t>
            </a:fld>
            <a:endParaRPr sz="1200">
              <a:solidFill>
                <a:srgbClr val="D28E28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48" name="Google Shape;448;p61"/>
          <p:cNvSpPr/>
          <p:nvPr/>
        </p:nvSpPr>
        <p:spPr>
          <a:xfrm>
            <a:off x="1285852" y="2786058"/>
            <a:ext cx="7705749" cy="3429024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EFC3BA"/>
              </a:gs>
              <a:gs pos="35000">
                <a:srgbClr val="F4D6CD"/>
              </a:gs>
              <a:gs pos="100000">
                <a:srgbClr val="FCEEEA"/>
              </a:gs>
            </a:gsLst>
            <a:lin ang="16200000" scaled="0"/>
          </a:gradFill>
          <a:ln w="9525" cap="flat" cmpd="sng">
            <a:solidFill>
              <a:srgbClr val="B186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Традиционно разработка также включала этап сопровождения (началу этого этапа соответствует стадия «Внедрение» по ГОСТ). </a:t>
            </a:r>
            <a:endParaRPr/>
          </a:p>
          <a:p>
            <a:pPr marL="0" marR="0" lvl="0" indent="0" algn="ctr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400" b="1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Однако по международному стандарту в соответствии с изменениями, произошедшими в индустрии разработки программного обеспечения, этот процесс теперь рассматривается отдельно.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"/>
          <p:cNvSpPr txBox="1">
            <a:spLocks noGrp="1"/>
          </p:cNvSpPr>
          <p:nvPr>
            <p:ph type="ctrTitle"/>
          </p:nvPr>
        </p:nvSpPr>
        <p:spPr>
          <a:xfrm>
            <a:off x="428596" y="500042"/>
            <a:ext cx="8286808" cy="2071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25600"/>
              </a:buClr>
              <a:buSzPts val="5400"/>
              <a:buFont typeface="Verdana"/>
              <a:buNone/>
            </a:pPr>
            <a:r>
              <a:rPr lang="ru-RU" sz="5400">
                <a:solidFill>
                  <a:srgbClr val="825600"/>
                </a:solidFill>
              </a:rPr>
              <a:t>Постановка задачи</a:t>
            </a:r>
            <a:endParaRPr sz="5400">
              <a:solidFill>
                <a:srgbClr val="825600"/>
              </a:solidFill>
            </a:endParaRPr>
          </a:p>
        </p:txBody>
      </p:sp>
      <p:sp>
        <p:nvSpPr>
          <p:cNvPr id="455" name="Google Shape;455;p62"/>
          <p:cNvSpPr txBox="1">
            <a:spLocks noGrp="1"/>
          </p:cNvSpPr>
          <p:nvPr>
            <p:ph type="subTitle" idx="1"/>
          </p:nvPr>
        </p:nvSpPr>
        <p:spPr>
          <a:xfrm>
            <a:off x="0" y="4214818"/>
            <a:ext cx="8858279" cy="235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91425" bIns="45700" anchor="t" anchorCtr="0">
            <a:noAutofit/>
          </a:bodyPr>
          <a:lstStyle/>
          <a:p>
            <a:pPr marL="265113" lvl="4" indent="-304800" algn="just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800"/>
              <a:buFont typeface="Arial"/>
              <a:buChar char="•"/>
            </a:pPr>
            <a:r>
              <a:rPr lang="ru-RU" sz="2400"/>
              <a:t>В процессе постановки задачи чётко формулируют </a:t>
            </a:r>
            <a:r>
              <a:rPr lang="ru-RU" sz="2400" b="1"/>
              <a:t>назначение программного обеспечения</a:t>
            </a:r>
            <a:r>
              <a:rPr lang="ru-RU" sz="2400"/>
              <a:t> и определяют </a:t>
            </a:r>
            <a:r>
              <a:rPr lang="ru-RU" sz="2400" b="1"/>
              <a:t>основные требования</a:t>
            </a:r>
            <a:r>
              <a:rPr lang="ru-RU" sz="2400"/>
              <a:t> к нему.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3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  <p:sp>
        <p:nvSpPr>
          <p:cNvPr id="462" name="Google Shape;462;p63"/>
          <p:cNvSpPr txBox="1">
            <a:spLocks noGrp="1"/>
          </p:cNvSpPr>
          <p:nvPr>
            <p:ph type="title"/>
          </p:nvPr>
        </p:nvSpPr>
        <p:spPr>
          <a:xfrm>
            <a:off x="304800" y="14285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ТРЕБОВАНИЯ</a:t>
            </a:r>
            <a:endParaRPr/>
          </a:p>
        </p:txBody>
      </p:sp>
      <p:sp>
        <p:nvSpPr>
          <p:cNvPr id="463" name="Google Shape;463;p63"/>
          <p:cNvSpPr txBox="1"/>
          <p:nvPr/>
        </p:nvSpPr>
        <p:spPr>
          <a:xfrm>
            <a:off x="84168" y="1111923"/>
            <a:ext cx="9010312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1463" marR="0" lvl="0" indent="-271463" algn="just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00"/>
              <a:buFont typeface="Arial"/>
              <a:buChar char="•"/>
            </a:pPr>
            <a:r>
              <a:rPr lang="ru-RU" sz="1800" b="1" i="1" u="none" strike="noStrike" cap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Требование</a:t>
            </a:r>
            <a:r>
              <a:rPr lang="ru-RU" sz="18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– это условие, которому должно удовлетворять программное обеспечение, или свойство, которым оно должно обладать, чтобы: </a:t>
            </a:r>
            <a:endParaRPr/>
          </a:p>
          <a:p>
            <a:pPr marL="2508250" marR="0" lvl="0" indent="-358775" algn="just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00"/>
              <a:buFont typeface="Noto Sans Symbols"/>
              <a:buChar char="✔"/>
            </a:pPr>
            <a:r>
              <a:rPr lang="ru-RU" sz="18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удовлетворить потребность пользователя в решении некоторой задачи;</a:t>
            </a:r>
            <a:endParaRPr/>
          </a:p>
          <a:p>
            <a:pPr marL="2508250" marR="0" lvl="0" indent="-358775" algn="just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00"/>
              <a:buFont typeface="Noto Sans Symbols"/>
              <a:buChar char="✔"/>
            </a:pPr>
            <a:r>
              <a:rPr lang="ru-RU" sz="18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удовлетворить требования контракта, спецификации или стандарта.</a:t>
            </a:r>
            <a:endParaRPr/>
          </a:p>
        </p:txBody>
      </p:sp>
      <p:sp>
        <p:nvSpPr>
          <p:cNvPr id="464" name="Google Shape;464;p63"/>
          <p:cNvSpPr/>
          <p:nvPr/>
        </p:nvSpPr>
        <p:spPr>
          <a:xfrm>
            <a:off x="71406" y="3143248"/>
            <a:ext cx="9000000" cy="357822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Все требования делятся на:</a:t>
            </a:r>
            <a:endParaRPr sz="1800" b="0" i="0" u="none" strike="noStrike" cap="none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1" i="0" u="sng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Функциональные</a:t>
            </a:r>
            <a:endParaRPr/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определяют действия, которые должна выполнять система, без учета ограничений, связанных с ее реализацией</a:t>
            </a:r>
            <a:endParaRPr/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ru-RU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 требования определяют поведение системы в процессе обработки информации</a:t>
            </a: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1" i="0" u="sng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Нефункциональные</a:t>
            </a:r>
            <a:endParaRPr/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lang="ru-RU" sz="1800" b="1" i="0" u="sng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эксплуатационные</a:t>
            </a: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 sz="1800" b="0" i="0" u="sng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не определяют поведение системы, но описывают атрибуты системы или атрибуты системного окружения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4"/>
          <p:cNvSpPr txBox="1">
            <a:spLocks noGrp="1"/>
          </p:cNvSpPr>
          <p:nvPr>
            <p:ph type="sldNum" idx="12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19</a:t>
            </a:fld>
            <a:endParaRPr sz="1200">
              <a:solidFill>
                <a:srgbClr val="D28E28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70" name="Google Shape;470;p64"/>
          <p:cNvSpPr/>
          <p:nvPr/>
        </p:nvSpPr>
        <p:spPr>
          <a:xfrm>
            <a:off x="1285852" y="2857496"/>
            <a:ext cx="7705749" cy="178595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EFC3BA"/>
              </a:gs>
              <a:gs pos="35000">
                <a:srgbClr val="F4D6CD"/>
              </a:gs>
              <a:gs pos="100000">
                <a:srgbClr val="FCEEEA"/>
              </a:gs>
            </a:gsLst>
            <a:lin ang="16200000" scaled="0"/>
          </a:gradFill>
          <a:ln w="9525" cap="flat" cmpd="sng">
            <a:solidFill>
              <a:srgbClr val="B186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Этап постановки задачи заканчивается разработкой </a:t>
            </a:r>
            <a:r>
              <a:rPr lang="ru-RU" sz="2400" b="1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технического задания, </a:t>
            </a:r>
            <a:r>
              <a:rPr lang="ru-RU" sz="2400" b="0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фиксирующего принципиальные требования, и принятием основных проектных решений.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5"/>
          <p:cNvSpPr txBox="1">
            <a:spLocks noGrp="1"/>
          </p:cNvSpPr>
          <p:nvPr>
            <p:ph type="ctrTitle"/>
          </p:nvPr>
        </p:nvSpPr>
        <p:spPr>
          <a:xfrm>
            <a:off x="428596" y="500042"/>
            <a:ext cx="8286808" cy="250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25600"/>
              </a:buClr>
              <a:buSzPts val="5400"/>
              <a:buFont typeface="Verdana"/>
              <a:buNone/>
            </a:pPr>
            <a:r>
              <a:rPr lang="ru-RU" sz="5400">
                <a:solidFill>
                  <a:srgbClr val="825600"/>
                </a:solidFill>
              </a:rPr>
              <a:t>Анализ требований и определение спецификаций</a:t>
            </a:r>
            <a:endParaRPr sz="5400">
              <a:solidFill>
                <a:srgbClr val="825600"/>
              </a:solidFill>
            </a:endParaRPr>
          </a:p>
        </p:txBody>
      </p:sp>
      <p:sp>
        <p:nvSpPr>
          <p:cNvPr id="477" name="Google Shape;477;p65"/>
          <p:cNvSpPr txBox="1">
            <a:spLocks noGrp="1"/>
          </p:cNvSpPr>
          <p:nvPr>
            <p:ph type="subTitle" idx="1"/>
          </p:nvPr>
        </p:nvSpPr>
        <p:spPr>
          <a:xfrm>
            <a:off x="0" y="4214818"/>
            <a:ext cx="8858279" cy="235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91425" bIns="45700" anchor="t" anchorCtr="0">
            <a:noAutofit/>
          </a:bodyPr>
          <a:lstStyle/>
          <a:p>
            <a:pPr marL="265113" lvl="4" indent="-304800" algn="just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800"/>
              <a:buFont typeface="Arial"/>
              <a:buChar char="•"/>
            </a:pPr>
            <a:r>
              <a:rPr lang="ru-RU" sz="2400"/>
              <a:t>Спецификация требований к ПО является основным документом, определяющим план разработки ПО.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6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  <p:sp>
        <p:nvSpPr>
          <p:cNvPr id="484" name="Google Shape;484;p66"/>
          <p:cNvSpPr txBox="1">
            <a:spLocks noGrp="1"/>
          </p:cNvSpPr>
          <p:nvPr>
            <p:ph type="title"/>
          </p:nvPr>
        </p:nvSpPr>
        <p:spPr>
          <a:xfrm>
            <a:off x="304800" y="14285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/>
              <a:t>СПЕЦИФИКАЦИИ</a:t>
            </a:r>
            <a:endParaRPr sz="3200" b="1"/>
          </a:p>
        </p:txBody>
      </p:sp>
      <p:sp>
        <p:nvSpPr>
          <p:cNvPr id="485" name="Google Shape;485;p66"/>
          <p:cNvSpPr/>
          <p:nvPr/>
        </p:nvSpPr>
        <p:spPr>
          <a:xfrm>
            <a:off x="72594" y="4786322"/>
            <a:ext cx="9000000" cy="100013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0B7A8"/>
              </a:gs>
              <a:gs pos="35000">
                <a:srgbClr val="F3CBC2"/>
              </a:gs>
              <a:gs pos="100000">
                <a:srgbClr val="FBEAE6"/>
              </a:gs>
            </a:gsLst>
            <a:lin ang="16200000" scaled="0"/>
          </a:gradFill>
          <a:ln w="9525" cap="flat" cmpd="sng">
            <a:solidFill>
              <a:srgbClr val="A35F4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1" u="none" strike="noStrike" cap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Совокупность спецификаций представляет собой общую </a:t>
            </a:r>
            <a:r>
              <a:rPr lang="ru-RU" sz="2000" b="1" i="1" u="none" strike="noStrike" cap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логическую модель </a:t>
            </a:r>
            <a:r>
              <a:rPr lang="ru-RU" sz="2000" b="0" i="1" u="none" strike="noStrike" cap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проектируемого программного обеспечения.</a:t>
            </a:r>
            <a:endParaRPr/>
          </a:p>
        </p:txBody>
      </p:sp>
      <p:sp>
        <p:nvSpPr>
          <p:cNvPr id="486" name="Google Shape;486;p66"/>
          <p:cNvSpPr txBox="1"/>
          <p:nvPr/>
        </p:nvSpPr>
        <p:spPr>
          <a:xfrm>
            <a:off x="72594" y="1071546"/>
            <a:ext cx="9010312" cy="3247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1463" marR="0" lvl="0" indent="-271463" algn="just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lang="ru-RU" sz="2000" b="1" i="1" u="none" strike="noStrike" cap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Спецификация</a:t>
            </a:r>
            <a:r>
              <a:rPr lang="ru-RU" sz="20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– точное формализованное описание функций и ограничений разрабатываемого программного обеспечения.</a:t>
            </a:r>
            <a:endParaRPr/>
          </a:p>
          <a:p>
            <a:pPr marL="271463" marR="0" lvl="0" indent="-271463" algn="just" rtl="0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lang="ru-RU" sz="20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Различают функциональные и эксплуатационные спецификации.</a:t>
            </a:r>
            <a:endParaRPr/>
          </a:p>
          <a:p>
            <a:pPr marL="0" marR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800" b="0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Часть спецификаций может быть определена в процессе </a:t>
            </a:r>
            <a:r>
              <a:rPr lang="ru-RU" sz="18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предпроектных исследований</a:t>
            </a:r>
            <a:r>
              <a:rPr lang="ru-RU" sz="1800" b="0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и, соответственно, зафиксирована в </a:t>
            </a:r>
            <a:r>
              <a:rPr lang="ru-RU" sz="18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техническом задании</a:t>
            </a:r>
            <a:r>
              <a:rPr lang="ru-RU" sz="1800" b="0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/>
          </a:p>
          <a:p>
            <a:pPr marL="0" marR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800" b="0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На этом этапе также целесообразно сформировать </a:t>
            </a:r>
            <a:r>
              <a:rPr lang="ru-RU" sz="18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тесты</a:t>
            </a:r>
            <a:r>
              <a:rPr lang="ru-RU" sz="1800" b="0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для поиска ошибок в проектируемом программном обеспечении, </a:t>
            </a:r>
            <a:r>
              <a:rPr lang="ru-RU" sz="1800" b="0" i="1" u="sng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обязательно указав ожидаемые результаты</a:t>
            </a:r>
            <a:r>
              <a:rPr lang="ru-RU" sz="1800" b="0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 sz="2000" b="1" i="1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7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  <p:sp>
        <p:nvSpPr>
          <p:cNvPr id="493" name="Google Shape;493;p67"/>
          <p:cNvSpPr txBox="1">
            <a:spLocks noGrp="1"/>
          </p:cNvSpPr>
          <p:nvPr>
            <p:ph type="title"/>
          </p:nvPr>
        </p:nvSpPr>
        <p:spPr>
          <a:xfrm>
            <a:off x="304800" y="14285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/>
              <a:t>АЛГОРИТМ ВЫРАБОТКИ СПЕЦИФИКАЦИЙ</a:t>
            </a:r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8"/>
          <p:cNvSpPr txBox="1">
            <a:spLocks noGrp="1"/>
          </p:cNvSpPr>
          <p:nvPr>
            <p:ph type="ctrTitle"/>
          </p:nvPr>
        </p:nvSpPr>
        <p:spPr>
          <a:xfrm>
            <a:off x="428596" y="500042"/>
            <a:ext cx="8286808" cy="2000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25600"/>
              </a:buClr>
              <a:buSzPts val="6600"/>
              <a:buFont typeface="Verdana"/>
              <a:buNone/>
            </a:pPr>
            <a:r>
              <a:rPr lang="ru-RU" sz="6600">
                <a:solidFill>
                  <a:srgbClr val="825600"/>
                </a:solidFill>
              </a:rPr>
              <a:t>Проектирование</a:t>
            </a:r>
            <a:endParaRPr sz="6600">
              <a:solidFill>
                <a:srgbClr val="825600"/>
              </a:solidFill>
            </a:endParaRPr>
          </a:p>
        </p:txBody>
      </p:sp>
      <p:sp>
        <p:nvSpPr>
          <p:cNvPr id="500" name="Google Shape;500;p68"/>
          <p:cNvSpPr txBox="1">
            <a:spLocks noGrp="1"/>
          </p:cNvSpPr>
          <p:nvPr>
            <p:ph type="subTitle" idx="1"/>
          </p:nvPr>
        </p:nvSpPr>
        <p:spPr>
          <a:xfrm>
            <a:off x="0" y="4214818"/>
            <a:ext cx="8858279" cy="235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91425" bIns="45700" anchor="t" anchorCtr="0">
            <a:noAutofit/>
          </a:bodyPr>
          <a:lstStyle/>
          <a:p>
            <a:pPr marL="265113" lvl="4" indent="-304800" algn="just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800"/>
              <a:buFont typeface="Arial"/>
              <a:buChar char="•"/>
            </a:pPr>
            <a:r>
              <a:rPr lang="ru-RU" sz="2400"/>
              <a:t>Основной задачей этого этапа является определение подробных спецификаций разрабатываемого программного обеспечения.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9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24</a:t>
            </a:fld>
            <a:endParaRPr/>
          </a:p>
        </p:txBody>
      </p:sp>
      <p:sp>
        <p:nvSpPr>
          <p:cNvPr id="507" name="Google Shape;507;p69"/>
          <p:cNvSpPr txBox="1">
            <a:spLocks noGrp="1"/>
          </p:cNvSpPr>
          <p:nvPr>
            <p:ph type="title"/>
          </p:nvPr>
        </p:nvSpPr>
        <p:spPr>
          <a:xfrm>
            <a:off x="304800" y="14285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/>
              <a:t>ПРОЦЕСС ПРОЕКТИРОВАНИЯ</a:t>
            </a:r>
            <a:endParaRPr sz="3200" b="1"/>
          </a:p>
        </p:txBody>
      </p:sp>
      <p:sp>
        <p:nvSpPr>
          <p:cNvPr id="508" name="Google Shape;508;p69"/>
          <p:cNvSpPr/>
          <p:nvPr/>
        </p:nvSpPr>
        <p:spPr>
          <a:xfrm>
            <a:off x="142844" y="1686777"/>
            <a:ext cx="9001156" cy="108013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Результатом проектирования является </a:t>
            </a:r>
            <a:r>
              <a:rPr lang="ru-RU" sz="1800" b="1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детальная модель </a:t>
            </a:r>
            <a:r>
              <a:rPr lang="ru-RU" sz="1800" b="0" i="0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разрабатываемого программного обеспечения вместе со спецификациями его компонентов всех уровней.</a:t>
            </a:r>
            <a:endParaRPr sz="1800" b="0" i="0" u="none" strike="noStrike" cap="none" dirty="0">
              <a:solidFill>
                <a:schemeClr val="tx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09" name="Google Shape;509;p69"/>
          <p:cNvSpPr/>
          <p:nvPr/>
        </p:nvSpPr>
        <p:spPr>
          <a:xfrm>
            <a:off x="142844" y="3671319"/>
            <a:ext cx="9001156" cy="108013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BBBBB"/>
              </a:gs>
              <a:gs pos="80000">
                <a:srgbClr val="F6F6F6"/>
              </a:gs>
              <a:gs pos="100000">
                <a:srgbClr val="F7F7F7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1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Процесс проектирования охватывает как </a:t>
            </a:r>
            <a:r>
              <a:rPr lang="ru-RU" sz="1800" b="1" i="1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проектирование программ </a:t>
            </a:r>
            <a:r>
              <a:rPr lang="ru-RU" sz="1800" b="0" i="1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(подпрограмм) и определение взаимосвязей между ними, так и </a:t>
            </a:r>
            <a:r>
              <a:rPr lang="ru-RU" sz="1800" b="1" i="1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проектирование данных</a:t>
            </a:r>
            <a:r>
              <a:rPr lang="ru-RU" sz="1800" b="0" i="1" u="none" strike="noStrike" cap="none" dirty="0">
                <a:solidFill>
                  <a:schemeClr val="tx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с которыми взаимодействуют эти программы или подпрограммы.</a:t>
            </a:r>
            <a:endParaRPr sz="1800" b="0" i="1" u="none" strike="noStrike" cap="none" dirty="0">
              <a:solidFill>
                <a:schemeClr val="tx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0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25</a:t>
            </a:fld>
            <a:endParaRPr/>
          </a:p>
        </p:txBody>
      </p:sp>
      <p:sp>
        <p:nvSpPr>
          <p:cNvPr id="516" name="Google Shape;516;p70"/>
          <p:cNvSpPr txBox="1">
            <a:spLocks noGrp="1"/>
          </p:cNvSpPr>
          <p:nvPr>
            <p:ph type="title"/>
          </p:nvPr>
        </p:nvSpPr>
        <p:spPr>
          <a:xfrm>
            <a:off x="304800" y="14285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ДВА АСПЕКТА ПРОЕКТИРОВАНИЯ</a:t>
            </a:r>
            <a:endParaRPr b="1"/>
          </a:p>
        </p:txBody>
      </p:sp>
      <p:sp>
        <p:nvSpPr>
          <p:cNvPr id="517" name="Google Shape;517;p70"/>
          <p:cNvSpPr/>
          <p:nvPr/>
        </p:nvSpPr>
        <p:spPr>
          <a:xfrm>
            <a:off x="71406" y="1142985"/>
            <a:ext cx="9000000" cy="514353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Принято различать два аспекта проектирования:</a:t>
            </a:r>
            <a:endParaRPr sz="1800" b="1" i="0" u="none" strike="noStrike" cap="none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397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Schoolbook"/>
              <a:buChar char="•"/>
            </a:pPr>
            <a:r>
              <a:rPr lang="ru-RU" sz="2200" b="1" i="0" u="sng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Логическое проектирование</a:t>
            </a:r>
            <a:endParaRPr/>
          </a:p>
          <a:p>
            <a:pPr marL="228600" marR="0" lvl="2" indent="-127000" algn="l" rtl="0">
              <a:lnSpc>
                <a:spcPct val="75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Schoolbook"/>
              <a:buChar char="•"/>
            </a:pPr>
            <a:r>
              <a:rPr lang="ru-RU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проектные операции, которые непосредственно не зависят от имеющихся технических и программных средств, составляющих среду функционирования будущего программного продукта</a:t>
            </a:r>
            <a:endParaRPr sz="20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2" indent="-127000" algn="l" rtl="0">
              <a:lnSpc>
                <a:spcPct val="7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Schoolbook"/>
              <a:buChar char="•"/>
            </a:pPr>
            <a:r>
              <a:rPr lang="ru-RU" sz="2000" b="1" i="0" u="sng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Физическое проектирование</a:t>
            </a:r>
            <a:endParaRPr sz="2000" b="0" i="0" u="sng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28600" marR="0" lvl="2" indent="-127000" algn="l" rtl="0">
              <a:lnSpc>
                <a:spcPct val="7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Schoolbook"/>
              <a:buChar char="•"/>
            </a:pPr>
            <a:r>
              <a:rPr lang="ru-RU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привязка к конкретным техническим и программным средствам среды функционирования, т.е. учёт ограничений, определённых в спецификациях</a:t>
            </a:r>
            <a:endParaRPr sz="22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1"/>
          <p:cNvSpPr txBox="1">
            <a:spLocks noGrp="1"/>
          </p:cNvSpPr>
          <p:nvPr>
            <p:ph type="ctrTitle"/>
          </p:nvPr>
        </p:nvSpPr>
        <p:spPr>
          <a:xfrm>
            <a:off x="428596" y="500042"/>
            <a:ext cx="8286808" cy="2000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25600"/>
              </a:buClr>
              <a:buSzPts val="8000"/>
              <a:buFont typeface="Verdana"/>
              <a:buNone/>
            </a:pPr>
            <a:r>
              <a:rPr lang="ru-RU" sz="8000">
                <a:solidFill>
                  <a:srgbClr val="825600"/>
                </a:solidFill>
              </a:rPr>
              <a:t>Реализация</a:t>
            </a:r>
            <a:endParaRPr sz="8000">
              <a:solidFill>
                <a:srgbClr val="825600"/>
              </a:solidFill>
            </a:endParaRPr>
          </a:p>
        </p:txBody>
      </p:sp>
      <p:sp>
        <p:nvSpPr>
          <p:cNvPr id="524" name="Google Shape;524;p71"/>
          <p:cNvSpPr txBox="1">
            <a:spLocks noGrp="1"/>
          </p:cNvSpPr>
          <p:nvPr>
            <p:ph type="subTitle" idx="1"/>
          </p:nvPr>
        </p:nvSpPr>
        <p:spPr>
          <a:xfrm>
            <a:off x="0" y="3929066"/>
            <a:ext cx="8858279" cy="2643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91425" bIns="45700" anchor="t" anchorCtr="0">
            <a:noAutofit/>
          </a:bodyPr>
          <a:lstStyle/>
          <a:p>
            <a:pPr marL="265113" lvl="4" indent="-304800" algn="just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800"/>
              <a:buFont typeface="Arial"/>
              <a:buChar char="•"/>
            </a:pPr>
            <a:r>
              <a:rPr lang="ru-RU" sz="2400"/>
              <a:t>Реализация представляет собой процесс поэтапного написания кодов программы на выбранном языке программирования (кодирование), их тестирование и отладку.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2"/>
          <p:cNvSpPr txBox="1">
            <a:spLocks noGrp="1"/>
          </p:cNvSpPr>
          <p:nvPr>
            <p:ph type="ctrTitle"/>
          </p:nvPr>
        </p:nvSpPr>
        <p:spPr>
          <a:xfrm>
            <a:off x="428596" y="500042"/>
            <a:ext cx="8286808" cy="2000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25600"/>
              </a:buClr>
              <a:buSzPts val="6600"/>
              <a:buFont typeface="Verdana"/>
              <a:buNone/>
            </a:pPr>
            <a:r>
              <a:rPr lang="ru-RU" sz="6600">
                <a:solidFill>
                  <a:srgbClr val="825600"/>
                </a:solidFill>
              </a:rPr>
              <a:t>Сопровождение</a:t>
            </a:r>
            <a:endParaRPr sz="6600">
              <a:solidFill>
                <a:srgbClr val="825600"/>
              </a:solidFill>
            </a:endParaRPr>
          </a:p>
        </p:txBody>
      </p:sp>
      <p:sp>
        <p:nvSpPr>
          <p:cNvPr id="531" name="Google Shape;531;p72"/>
          <p:cNvSpPr txBox="1">
            <a:spLocks noGrp="1"/>
          </p:cNvSpPr>
          <p:nvPr>
            <p:ph type="subTitle" idx="1"/>
          </p:nvPr>
        </p:nvSpPr>
        <p:spPr>
          <a:xfrm>
            <a:off x="0" y="3857628"/>
            <a:ext cx="8858279" cy="2714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91425" bIns="45700" anchor="t" anchorCtr="0">
            <a:noAutofit/>
          </a:bodyPr>
          <a:lstStyle/>
          <a:p>
            <a:pPr marL="265113" lvl="4" indent="-265113" algn="just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000"/>
              <a:buFont typeface="Arial"/>
              <a:buChar char="•"/>
            </a:pPr>
            <a:r>
              <a:rPr lang="ru-RU" sz="2000"/>
              <a:t>Сопровождение – это процесс создания и внедрения новых версий программного продукта.</a:t>
            </a:r>
            <a:endParaRPr/>
          </a:p>
          <a:p>
            <a:pPr marL="265113" lvl="4" indent="-265113" algn="just" rtl="0">
              <a:spcBef>
                <a:spcPts val="2400"/>
              </a:spcBef>
              <a:spcAft>
                <a:spcPts val="0"/>
              </a:spcAft>
              <a:buClr>
                <a:srgbClr val="FF9900"/>
              </a:buClr>
              <a:buSzPts val="4000"/>
              <a:buFont typeface="Arial"/>
              <a:buChar char="•"/>
            </a:pPr>
            <a:r>
              <a:rPr lang="ru-RU" sz="2000"/>
              <a:t>На этом этапе в программный продукт вносят необходимые изменения, которые так же, как в остальных случаях, могут потребовать пересмотра проектных решений, принятых на любом предыдущем этапе. 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/>
                                        <p:tgtEl>
                                          <p:spTgt spid="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/>
                                        <p:tgtEl>
                                          <p:spTgt spid="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3"/>
          <p:cNvSpPr txBox="1">
            <a:spLocks noGrp="1"/>
          </p:cNvSpPr>
          <p:nvPr>
            <p:ph type="sldNum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28</a:t>
            </a:fld>
            <a:endParaRPr/>
          </a:p>
        </p:txBody>
      </p:sp>
      <p:sp>
        <p:nvSpPr>
          <p:cNvPr id="538" name="Google Shape;538;p73"/>
          <p:cNvSpPr txBox="1">
            <a:spLocks noGrp="1"/>
          </p:cNvSpPr>
          <p:nvPr>
            <p:ph type="title"/>
          </p:nvPr>
        </p:nvSpPr>
        <p:spPr>
          <a:xfrm>
            <a:off x="304800" y="14285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/>
              <a:t>ПРИЧИНЫ ВЫПУСКА НОВЫХ ВЕРСИЙ</a:t>
            </a:r>
            <a:endParaRPr/>
          </a:p>
        </p:txBody>
      </p:sp>
      <p:sp>
        <p:nvSpPr>
          <p:cNvPr id="539" name="Google Shape;539;p73"/>
          <p:cNvSpPr/>
          <p:nvPr/>
        </p:nvSpPr>
        <p:spPr>
          <a:xfrm>
            <a:off x="71406" y="1142985"/>
            <a:ext cx="8920194" cy="500065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необходимость исправления ошибок, выявленных в процессе эксплуатации предыдущих версий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114300" marR="0" lvl="1" indent="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</a:pP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114300" marR="0" lvl="1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необходимость совершенствования предыдущих версий, например, улучшения интерфейса, расширения состава выполняемых функций или повышения его производительности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114300" marR="0" lvl="1" indent="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</a:pP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114300" marR="0" lvl="1" indent="-114300" algn="l" rtl="0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•"/>
            </a:pPr>
            <a:r>
              <a:rPr lang="ru-RU"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изменение среды функционирования, например, появление новых технических средств и/или программных продуктов, с которыми взаимодействует сопровождаемое программное обеспечение</a:t>
            </a: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4"/>
          <p:cNvSpPr txBox="1">
            <a:spLocks noGrp="1"/>
          </p:cNvSpPr>
          <p:nvPr>
            <p:ph type="sldNum" idx="12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rgbClr val="D28E2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29</a:t>
            </a:fld>
            <a:endParaRPr sz="1200">
              <a:solidFill>
                <a:srgbClr val="D28E28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45" name="Google Shape;545;p74"/>
          <p:cNvSpPr/>
          <p:nvPr/>
        </p:nvSpPr>
        <p:spPr>
          <a:xfrm>
            <a:off x="1285852" y="1928802"/>
            <a:ext cx="7705749" cy="4435483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EFC3BA"/>
              </a:gs>
              <a:gs pos="35000">
                <a:srgbClr val="F4D6CD"/>
              </a:gs>
              <a:gs pos="100000">
                <a:srgbClr val="FCEEEA"/>
              </a:gs>
            </a:gsLst>
            <a:lin ang="16200000" scaled="0"/>
          </a:gradFill>
          <a:ln w="9525" cap="flat" cmpd="sng">
            <a:solidFill>
              <a:srgbClr val="B186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изменением модели жизненного цикла программного обеспечения существенно возросла роль этапа сопровождения, так как продукты теперь создаются </a:t>
            </a:r>
            <a:r>
              <a:rPr lang="ru-RU" sz="2400" b="1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итерационно</a:t>
            </a:r>
            <a:r>
              <a:rPr lang="ru-RU" sz="2400" b="0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сначала выпускается сравнительно простая версия, затем следующая с большими возможностями, затем следующая и т.д. </a:t>
            </a:r>
            <a:endParaRPr/>
          </a:p>
          <a:p>
            <a:pPr marL="0" marR="0" lvl="0" indent="0" algn="ctr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400" b="0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Именно это и послужило причиной выделения этапа сопровождения в отдельный процесс жизненного цикла в соответствии со стандартом </a:t>
            </a:r>
            <a:r>
              <a:rPr lang="ru-RU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ISO/IEC 12207</a:t>
            </a:r>
            <a:r>
              <a:rPr lang="ru-RU" sz="2400" b="0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Апекс">
  <a:themeElements>
    <a:clrScheme name="Апекс">
      <a:dk1>
        <a:srgbClr val="000000"/>
      </a:dk1>
      <a:lt1>
        <a:srgbClr val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Лекция_Инф">
  <a:themeElements>
    <a:clrScheme name="Лекция_Инф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Аспект">
  <a:themeElements>
    <a:clrScheme name="Аспект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1200</Words>
  <Application>Microsoft Office PowerPoint</Application>
  <PresentationFormat>Экран (4:3)</PresentationFormat>
  <Paragraphs>182</Paragraphs>
  <Slides>29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29</vt:i4>
      </vt:variant>
    </vt:vector>
  </HeadingPairs>
  <TitlesOfParts>
    <vt:vector size="41" baseType="lpstr">
      <vt:lpstr>Book Antiqua</vt:lpstr>
      <vt:lpstr>Lucida Sans</vt:lpstr>
      <vt:lpstr>Century Schoolbook</vt:lpstr>
      <vt:lpstr>Calibri</vt:lpstr>
      <vt:lpstr>Arial</vt:lpstr>
      <vt:lpstr>Noto Sans Symbols</vt:lpstr>
      <vt:lpstr>Times New Roman</vt:lpstr>
      <vt:lpstr>Verdana</vt:lpstr>
      <vt:lpstr>Апекс</vt:lpstr>
      <vt:lpstr>1_Лекция_Инф</vt:lpstr>
      <vt:lpstr>Аспект</vt:lpstr>
      <vt:lpstr>Специальное оформление</vt:lpstr>
      <vt:lpstr>ЖИЗНЕННЫЙ ЦИКЛ И ЭТАПЫ РАЗРАБОТКИ ПРОГРАММНОГО ОБЕСПЕЧЕНИЯ</vt:lpstr>
      <vt:lpstr>ЖИЗНЕННЫЙ ЦИКЛ ПО.</vt:lpstr>
      <vt:lpstr>Презентация PowerPoint</vt:lpstr>
      <vt:lpstr>СТРУКТУРА ПРОЦЕССОВ ЖИЗНЕННОГО ЦИКЛА ПРОГРАММНОГО ОБЕСПЕЧЕНИЯ</vt:lpstr>
      <vt:lpstr>Процесс разработки ПО</vt:lpstr>
      <vt:lpstr>ПРОЦЕСС РАЗРАБОТКИ</vt:lpstr>
      <vt:lpstr>ДЕЙСТВИЯ В ПРОЦЕССЕ РАЗРАБОТКИ  ( по стандарту )</vt:lpstr>
      <vt:lpstr>ДЕЙСТВИЯ В ПРОЦЕССЕ РАЗРАБОТКИ  ( по стандарту )</vt:lpstr>
      <vt:lpstr>ДЕЙСТВИЯ В ПРОЦЕССЕ РАЗРАБОТКИ  ( по стандарту )</vt:lpstr>
      <vt:lpstr>ДЕЙСТВИЯ В ПРОЦЕССЕ РАЗРАБОТКИ  ( по стандарту )</vt:lpstr>
      <vt:lpstr>ДЕЙСТВИЯ В ПРОЦЕССЕ РАЗРАБОТКИ  ( по стандарту )</vt:lpstr>
      <vt:lpstr>ДЕЙСТВИЯ В ПРОЦЕССЕ РАЗРАБОТКИ  ( по стандарту )</vt:lpstr>
      <vt:lpstr>Этапы разработки программного обеспечения</vt:lpstr>
      <vt:lpstr>ЭТАПЫ РАЗРАБОТКИ ПО</vt:lpstr>
      <vt:lpstr>Этапы и стадии разработки ПО</vt:lpstr>
      <vt:lpstr>Презентация PowerPoint</vt:lpstr>
      <vt:lpstr>Постановка задачи</vt:lpstr>
      <vt:lpstr>ТРЕБОВАНИЯ</vt:lpstr>
      <vt:lpstr>Презентация PowerPoint</vt:lpstr>
      <vt:lpstr>Анализ требований и определение спецификаций</vt:lpstr>
      <vt:lpstr>СПЕЦИФИКАЦИИ</vt:lpstr>
      <vt:lpstr>АЛГОРИТМ ВЫРАБОТКИ СПЕЦИФИКАЦИЙ</vt:lpstr>
      <vt:lpstr>Проектирование</vt:lpstr>
      <vt:lpstr>ПРОЦЕСС ПРОЕКТИРОВАНИЯ</vt:lpstr>
      <vt:lpstr>ДВА АСПЕКТА ПРОЕКТИРОВАНИЯ</vt:lpstr>
      <vt:lpstr>Реализация</vt:lpstr>
      <vt:lpstr>Сопровождение</vt:lpstr>
      <vt:lpstr>ПРИЧИНЫ ВЫПУСКА НОВЫХ ВЕРСИЙ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ЖИЗНЕННЫЙ ЦИКЛ И ЭТАПЫ РАЗРАБОТКИ ПРОГРАММНОГО ОБЕСПЕЧЕНИЯ</dc:title>
  <dc:creator>WS09</dc:creator>
  <cp:lastModifiedBy>Учетная запись Майкрософт</cp:lastModifiedBy>
  <cp:revision>2</cp:revision>
  <dcterms:modified xsi:type="dcterms:W3CDTF">2022-01-24T15:13:33Z</dcterms:modified>
</cp:coreProperties>
</file>