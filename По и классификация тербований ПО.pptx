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63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CDA66D-4F3C-471C-A435-4F4C10E46F1D}" v="401" dt="2023-01-18T18:33:03.123"/>
    <p1510:client id="{B94E5EDA-1AD2-45E1-AD2D-401C90105813}" v="6" dt="2023-01-20T03:47:05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22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182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781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62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526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023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173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041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516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510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323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12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ru-RU" sz="4800">
                <a:solidFill>
                  <a:srgbClr val="FFFFFF"/>
                </a:solidFill>
                <a:cs typeface="Calibri Light"/>
              </a:rPr>
              <a:t>Программное обеспечение и его классификации требований</a:t>
            </a:r>
            <a:endParaRPr lang="ru-RU" sz="4800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B91CD6-A527-268D-ED88-3809ADF86308}"/>
              </a:ext>
            </a:extLst>
          </p:cNvPr>
          <p:cNvSpPr txBox="1"/>
          <p:nvPr/>
        </p:nvSpPr>
        <p:spPr>
          <a:xfrm>
            <a:off x="8635999" y="6213231"/>
            <a:ext cx="610576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cs typeface="Calibri"/>
              </a:rPr>
              <a:t>Выполнили студенты группы 20П-3 </a:t>
            </a:r>
          </a:p>
          <a:p>
            <a:r>
              <a:rPr lang="ru-RU" dirty="0">
                <a:cs typeface="Calibri"/>
              </a:rPr>
              <a:t>Никитин Ярослав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04C17A-DB89-148A-807D-5ABA5031D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4500" kern="1200" dirty="0">
                <a:latin typeface="+mj-lt"/>
                <a:ea typeface="+mj-ea"/>
                <a:cs typeface="+mj-cs"/>
              </a:rPr>
              <a:t>ПО(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Программное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обеспечение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) -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это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совокупность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программ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,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хранящихся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на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устройствах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долговременной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памяти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компьютера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и </a:t>
            </a:r>
            <a:r>
              <a:rPr lang="en-US" sz="4500" dirty="0" err="1"/>
              <a:t>предназначенных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для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массового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использования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791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C47CBA-24D8-4E94-D2D9-948740CED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ru-RU" sz="4800" dirty="0">
                <a:cs typeface="Calibri Light"/>
              </a:rPr>
              <a:t>Требования</a:t>
            </a:r>
            <a:endParaRPr lang="ru-RU" sz="4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A0086A-46E0-FDF4-1C71-23115A307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400" b="1">
                <a:ea typeface="+mn-lt"/>
                <a:cs typeface="+mn-lt"/>
              </a:rPr>
              <a:t>Требования</a:t>
            </a:r>
            <a:r>
              <a:rPr lang="ru-RU" sz="2400">
                <a:ea typeface="+mn-lt"/>
                <a:cs typeface="+mn-lt"/>
              </a:rPr>
              <a:t> к программному обеспечению — совокупность утверждений относительно атрибутов, свойств или качеств программной системы, подлежащей реализации. Создаются в процессе разработки </a:t>
            </a:r>
            <a:r>
              <a:rPr lang="ru-RU" sz="2400" b="1">
                <a:ea typeface="+mn-lt"/>
                <a:cs typeface="+mn-lt"/>
              </a:rPr>
              <a:t>требований</a:t>
            </a:r>
            <a:r>
              <a:rPr lang="ru-RU" sz="2400">
                <a:ea typeface="+mn-lt"/>
                <a:cs typeface="+mn-lt"/>
              </a:rPr>
              <a:t> к программному обеспечению (ПО), в результате анализа </a:t>
            </a:r>
            <a:r>
              <a:rPr lang="ru-RU" sz="2400" b="1">
                <a:ea typeface="+mn-lt"/>
                <a:cs typeface="+mn-lt"/>
              </a:rPr>
              <a:t>требований</a:t>
            </a:r>
            <a:r>
              <a:rPr lang="ru-RU" sz="2400">
                <a:ea typeface="+mn-lt"/>
                <a:cs typeface="+mn-lt"/>
              </a:rPr>
              <a:t>. </a:t>
            </a:r>
            <a:r>
              <a:rPr lang="ru-RU" sz="2400" b="1">
                <a:ea typeface="+mn-lt"/>
                <a:cs typeface="+mn-lt"/>
              </a:rPr>
              <a:t>Требования</a:t>
            </a:r>
            <a:r>
              <a:rPr lang="ru-RU" sz="2400">
                <a:ea typeface="+mn-lt"/>
                <a:cs typeface="+mn-lt"/>
              </a:rPr>
              <a:t> могут выражаться в виде текстовых утверждений и графических моделей. В классическом техническом подходе совокупность </a:t>
            </a:r>
            <a:r>
              <a:rPr lang="ru-RU" sz="2400" b="1">
                <a:ea typeface="+mn-lt"/>
                <a:cs typeface="+mn-lt"/>
              </a:rPr>
              <a:t>требований</a:t>
            </a:r>
            <a:r>
              <a:rPr lang="ru-RU" sz="2400">
                <a:ea typeface="+mn-lt"/>
                <a:cs typeface="+mn-lt"/>
              </a:rPr>
              <a:t> используется на стадии проектирования ПО.</a:t>
            </a:r>
            <a:endParaRPr lang="ru-RU" sz="2400">
              <a:cs typeface="Calibri" panose="020F0502020204030204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329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1BDAAF-949C-B322-5BE3-633B63D54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>
                <a:ea typeface="+mj-lt"/>
                <a:cs typeface="+mj-lt"/>
              </a:rPr>
              <a:t>Классификация требований</a:t>
            </a:r>
            <a:endParaRPr lang="ru-RU">
              <a:ea typeface="+mj-lt"/>
              <a:cs typeface="+mj-lt"/>
            </a:endParaRPr>
          </a:p>
          <a:p>
            <a:endParaRPr lang="ru-RU" dirty="0">
              <a:cs typeface="Calibri Light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416A52-CCC6-24CF-85FA-A5EB439A1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Существует значительное количество различных методов классификации требований. Наиболее существенные - это:</a:t>
            </a:r>
            <a:endParaRPr lang="ru-RU">
              <a:cs typeface="Calibri" panose="020F0502020204030204"/>
            </a:endParaRPr>
          </a:p>
          <a:p>
            <a:pPr lvl="1"/>
            <a:r>
              <a:rPr lang="ru-RU" dirty="0">
                <a:ea typeface="+mn-lt"/>
                <a:cs typeface="+mn-lt"/>
              </a:rPr>
              <a:t>Требования к продукту и процессу;</a:t>
            </a:r>
            <a:endParaRPr lang="ru-RU"/>
          </a:p>
          <a:p>
            <a:pPr lvl="1"/>
            <a:r>
              <a:rPr lang="ru-RU" dirty="0">
                <a:ea typeface="+mn-lt"/>
                <a:cs typeface="+mn-lt"/>
              </a:rPr>
              <a:t>Уровни требований;</a:t>
            </a:r>
            <a:endParaRPr lang="ru-RU"/>
          </a:p>
          <a:p>
            <a:pPr lvl="1"/>
            <a:r>
              <a:rPr lang="ru-RU" dirty="0">
                <a:ea typeface="+mn-lt"/>
                <a:cs typeface="+mn-lt"/>
              </a:rPr>
              <a:t>Системные требования и требования к программному обеспечению;</a:t>
            </a:r>
            <a:endParaRPr lang="ru-RU"/>
          </a:p>
          <a:p>
            <a:pPr lvl="1"/>
            <a:r>
              <a:rPr lang="ru-RU" dirty="0">
                <a:ea typeface="+mn-lt"/>
                <a:cs typeface="+mn-lt"/>
              </a:rPr>
              <a:t>Функциональные, нефункциональные требования и характеристики продукта;</a:t>
            </a:r>
            <a:endParaRPr lang="ru-RU"/>
          </a:p>
          <a:p>
            <a:pPr lvl="1"/>
            <a:r>
              <a:rPr lang="ru-RU" dirty="0">
                <a:ea typeface="+mn-lt"/>
                <a:cs typeface="+mn-lt"/>
              </a:rPr>
              <a:t>Классификация RUP.</a:t>
            </a:r>
            <a:endParaRPr lang="ru-RU"/>
          </a:p>
          <a:p>
            <a:endParaRPr lang="ru-R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5142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5CCDD3-D195-997D-6E24-FA7E1FBB5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Требования к продукту и процессу</a:t>
            </a:r>
          </a:p>
          <a:p>
            <a:endParaRPr lang="ru-RU" dirty="0">
              <a:cs typeface="Calibri Light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3FC0DE-E2D6-72F6-E833-410B82045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ru-RU" i="1" dirty="0">
                <a:ea typeface="+mn-lt"/>
                <a:cs typeface="+mn-lt"/>
              </a:rPr>
              <a:t>Требования к продукту</a:t>
            </a:r>
            <a:r>
              <a:rPr lang="ru-RU" dirty="0">
                <a:ea typeface="+mn-lt"/>
                <a:cs typeface="+mn-lt"/>
              </a:rPr>
              <a:t> – содержит в своей основе то, что формулирует заказчик. Цель, которую преследует заказчик - получить хороший конечный продукт: функциональный и удобный в использовании. Поэтому требования к продукту являются основополагающим классом требований.</a:t>
            </a:r>
            <a:endParaRPr lang="ru-RU" dirty="0">
              <a:cs typeface="Calibri" panose="020F0502020204030204"/>
            </a:endParaRPr>
          </a:p>
          <a:p>
            <a:pPr algn="just"/>
            <a:r>
              <a:rPr lang="ru-RU" i="1" dirty="0">
                <a:ea typeface="+mn-lt"/>
                <a:cs typeface="+mn-lt"/>
              </a:rPr>
              <a:t>Требования к проекту</a:t>
            </a:r>
            <a:r>
              <a:rPr lang="ru-RU" dirty="0">
                <a:ea typeface="+mn-lt"/>
                <a:cs typeface="+mn-lt"/>
              </a:rPr>
              <a:t> – содержит вопросы формулирования требований к проекту, т.е. к тому, как Разработчик будет выполнять работы по созданию целевой системы.</a:t>
            </a:r>
            <a:endParaRPr lang="ru-RU" dirty="0"/>
          </a:p>
          <a:p>
            <a:endParaRPr lang="ru-R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8416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B6F772-5222-135B-05B1-1996C4794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>
                <a:solidFill>
                  <a:srgbClr val="FFFFFF"/>
                </a:solidFill>
              </a:rPr>
              <a:t>Уровни требований</a:t>
            </a:r>
          </a:p>
          <a:p>
            <a:pPr algn="r"/>
            <a:endParaRPr lang="ru-RU" sz="4000">
              <a:solidFill>
                <a:srgbClr val="FFFFFF"/>
              </a:solidFill>
              <a:cs typeface="Calibri Ligh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484906-171E-2779-8F72-55422AFBE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8721" y="4711"/>
            <a:ext cx="8167269" cy="67965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1600" dirty="0">
                <a:ea typeface="+mn-lt"/>
                <a:cs typeface="+mn-lt"/>
              </a:rPr>
              <a:t>Современные ИС - это крупные программные системы, содержащие в себе множество модулей, функциональных, интерфейсных элементов, отчетов и т.д.</a:t>
            </a:r>
            <a:endParaRPr lang="ru-RU" sz="1600" dirty="0">
              <a:cs typeface="Calibri" panose="020F0502020204030204"/>
            </a:endParaRPr>
          </a:p>
          <a:p>
            <a:r>
              <a:rPr lang="ru-RU" sz="1600" dirty="0">
                <a:ea typeface="+mn-lt"/>
                <a:cs typeface="+mn-lt"/>
              </a:rPr>
              <a:t>Общепринятый прием борьбы со сложностью при моделировании сложных объектов – это абстракция и декомпозиция.</a:t>
            </a:r>
            <a:endParaRPr lang="ru-RU" sz="1600" dirty="0">
              <a:cs typeface="Calibri"/>
            </a:endParaRPr>
          </a:p>
          <a:p>
            <a:r>
              <a:rPr lang="ru-RU" sz="1600" dirty="0">
                <a:ea typeface="+mn-lt"/>
                <a:cs typeface="+mn-lt"/>
              </a:rPr>
              <a:t>Применительно к анализу требований к программным системам эти принципы приводят к разделению требований по уровням.</a:t>
            </a:r>
            <a:endParaRPr lang="ru-RU" sz="1600" dirty="0">
              <a:cs typeface="Calibri"/>
            </a:endParaRPr>
          </a:p>
          <a:p>
            <a:r>
              <a:rPr lang="ru-RU" sz="1600" dirty="0">
                <a:ea typeface="+mn-lt"/>
                <a:cs typeface="+mn-lt"/>
              </a:rPr>
              <a:t>Обычно выделяют три уровня требований.</a:t>
            </a:r>
            <a:endParaRPr lang="ru-RU" sz="1600" dirty="0">
              <a:cs typeface="Calibri"/>
            </a:endParaRPr>
          </a:p>
          <a:p>
            <a:r>
              <a:rPr lang="ru-RU" sz="1600" dirty="0">
                <a:ea typeface="+mn-lt"/>
                <a:cs typeface="+mn-lt"/>
              </a:rPr>
              <a:t>1) Верхний уровень - уровень </a:t>
            </a:r>
            <a:r>
              <a:rPr lang="ru-RU" sz="1600" b="1" i="1" dirty="0">
                <a:ea typeface="+mn-lt"/>
                <a:cs typeface="+mn-lt"/>
              </a:rPr>
              <a:t>бизнес-требований (</a:t>
            </a:r>
            <a:r>
              <a:rPr lang="ru-RU" sz="1600" b="1" i="1" dirty="0" err="1">
                <a:ea typeface="+mn-lt"/>
                <a:cs typeface="+mn-lt"/>
              </a:rPr>
              <a:t>business</a:t>
            </a:r>
            <a:r>
              <a:rPr lang="ru-RU" sz="1600" b="1" i="1" dirty="0">
                <a:ea typeface="+mn-lt"/>
                <a:cs typeface="+mn-lt"/>
              </a:rPr>
              <a:t> </a:t>
            </a:r>
            <a:r>
              <a:rPr lang="ru-RU" sz="1600" b="1" i="1" dirty="0" err="1">
                <a:ea typeface="+mn-lt"/>
                <a:cs typeface="+mn-lt"/>
              </a:rPr>
              <a:t>requirements</a:t>
            </a:r>
            <a:r>
              <a:rPr lang="ru-RU" sz="1600" b="1" i="1" dirty="0">
                <a:ea typeface="+mn-lt"/>
                <a:cs typeface="+mn-lt"/>
              </a:rPr>
              <a:t>).</a:t>
            </a:r>
            <a:r>
              <a:rPr lang="ru-RU" sz="1600" dirty="0">
                <a:ea typeface="+mn-lt"/>
                <a:cs typeface="+mn-lt"/>
              </a:rPr>
              <a:t> Примеры бизнес-требования: «система должна сократить срок оборачиваемости обрабатываемых на предприятии заказов в три раза». Бизнес-требования обычно формулируются топ-менеджерами, либо акционерами предприятия.</a:t>
            </a:r>
            <a:endParaRPr lang="ru-RU" sz="1600" dirty="0">
              <a:cs typeface="Calibri"/>
            </a:endParaRPr>
          </a:p>
          <a:p>
            <a:r>
              <a:rPr lang="ru-RU" sz="1600" dirty="0">
                <a:ea typeface="+mn-lt"/>
                <a:cs typeface="+mn-lt"/>
              </a:rPr>
              <a:t>2) Средний уровень - уровень </a:t>
            </a:r>
            <a:r>
              <a:rPr lang="ru-RU" sz="1600" b="1" i="1" dirty="0">
                <a:ea typeface="+mn-lt"/>
                <a:cs typeface="+mn-lt"/>
              </a:rPr>
              <a:t>требований пользователей (</a:t>
            </a:r>
            <a:r>
              <a:rPr lang="ru-RU" sz="1600" b="1" i="1" dirty="0" err="1">
                <a:ea typeface="+mn-lt"/>
                <a:cs typeface="+mn-lt"/>
              </a:rPr>
              <a:t>user</a:t>
            </a:r>
            <a:r>
              <a:rPr lang="ru-RU" sz="1600" b="1" i="1" dirty="0">
                <a:ea typeface="+mn-lt"/>
                <a:cs typeface="+mn-lt"/>
              </a:rPr>
              <a:t> </a:t>
            </a:r>
            <a:r>
              <a:rPr lang="ru-RU" sz="1600" b="1" i="1" dirty="0" err="1">
                <a:ea typeface="+mn-lt"/>
                <a:cs typeface="+mn-lt"/>
              </a:rPr>
              <a:t>requirements</a:t>
            </a:r>
            <a:r>
              <a:rPr lang="ru-RU" sz="1600" b="1" i="1" dirty="0">
                <a:ea typeface="+mn-lt"/>
                <a:cs typeface="+mn-lt"/>
              </a:rPr>
              <a:t>). </a:t>
            </a:r>
            <a:r>
              <a:rPr lang="ru-RU" sz="1600" dirty="0">
                <a:ea typeface="+mn-lt"/>
                <a:cs typeface="+mn-lt"/>
              </a:rPr>
              <a:t>Пример требования пользователя: «система должна представлять диалоговые средства для ввода исчерпывающей информации о заказе, последующей фиксации информации в базе данных и маршрутизации информации о заказе к сотруднику, отвечающему за его планирование и исполнение».</a:t>
            </a:r>
            <a:endParaRPr lang="ru-RU" sz="1600" dirty="0">
              <a:cs typeface="Calibri"/>
            </a:endParaRPr>
          </a:p>
          <a:p>
            <a:r>
              <a:rPr lang="ru-RU" sz="1600" dirty="0">
                <a:ea typeface="+mn-lt"/>
                <a:cs typeface="+mn-lt"/>
              </a:rPr>
              <a:t>3) Нижний уровень </a:t>
            </a:r>
            <a:r>
              <a:rPr lang="ru-RU" sz="1600" b="1" i="1" dirty="0">
                <a:ea typeface="+mn-lt"/>
                <a:cs typeface="+mn-lt"/>
              </a:rPr>
              <a:t>- функциональный (</a:t>
            </a:r>
            <a:r>
              <a:rPr lang="ru-RU" sz="1600" b="1" i="1" dirty="0" err="1">
                <a:ea typeface="+mn-lt"/>
                <a:cs typeface="+mn-lt"/>
              </a:rPr>
              <a:t>functional</a:t>
            </a:r>
            <a:r>
              <a:rPr lang="ru-RU" sz="1600" b="1" i="1" dirty="0">
                <a:ea typeface="+mn-lt"/>
                <a:cs typeface="+mn-lt"/>
              </a:rPr>
              <a:t> </a:t>
            </a:r>
            <a:r>
              <a:rPr lang="ru-RU" sz="1600" b="1" i="1" dirty="0" err="1">
                <a:ea typeface="+mn-lt"/>
                <a:cs typeface="+mn-lt"/>
              </a:rPr>
              <a:t>requirements</a:t>
            </a:r>
            <a:r>
              <a:rPr lang="ru-RU" sz="1600" b="1" i="1" dirty="0">
                <a:ea typeface="+mn-lt"/>
                <a:cs typeface="+mn-lt"/>
              </a:rPr>
              <a:t>).</a:t>
            </a:r>
            <a:r>
              <a:rPr lang="ru-RU" sz="1600" dirty="0">
                <a:ea typeface="+mn-lt"/>
                <a:cs typeface="+mn-lt"/>
              </a:rPr>
              <a:t> Пример функциональных требований (или просто функций) по работе с электронным заказом: заказ может быть создан, отредактирован, удален и перемещен с участка на участок.</a:t>
            </a:r>
            <a:endParaRPr lang="ru-RU" sz="1600" dirty="0">
              <a:cs typeface="Calibri"/>
            </a:endParaRPr>
          </a:p>
          <a:p>
            <a:r>
              <a:rPr lang="ru-RU" sz="1600" dirty="0">
                <a:ea typeface="+mn-lt"/>
                <a:cs typeface="+mn-lt"/>
              </a:rPr>
              <a:t>Существуют объективные противоречия между требованиями различных уровней.</a:t>
            </a:r>
            <a:endParaRPr lang="ru-RU" sz="1600" dirty="0"/>
          </a:p>
          <a:p>
            <a:endParaRPr lang="ru-RU" sz="13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6795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E8CD1D-6A29-69E4-3231-B660B8277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ru-RU" sz="3700">
                <a:solidFill>
                  <a:srgbClr val="FFFFFF"/>
                </a:solidFill>
              </a:rPr>
              <a:t>Системные требования и требования к программному обеспечению</a:t>
            </a:r>
          </a:p>
          <a:p>
            <a:endParaRPr lang="ru-RU" sz="3700">
              <a:solidFill>
                <a:srgbClr val="FFFFFF"/>
              </a:solidFill>
              <a:cs typeface="Calibri Light"/>
            </a:endParaRPr>
          </a:p>
        </p:txBody>
      </p:sp>
      <p:sp>
        <p:nvSpPr>
          <p:cNvPr id="16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8D1C6F-0688-CE0F-AFDE-E3130F978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1800">
                <a:ea typeface="+mn-lt"/>
                <a:cs typeface="+mn-lt"/>
              </a:rPr>
              <a:t>Системные требования (</a:t>
            </a:r>
            <a:r>
              <a:rPr lang="ru-RU" sz="1800" err="1">
                <a:ea typeface="+mn-lt"/>
                <a:cs typeface="+mn-lt"/>
              </a:rPr>
              <a:t>system</a:t>
            </a:r>
            <a:r>
              <a:rPr lang="ru-RU" sz="1800">
                <a:ea typeface="+mn-lt"/>
                <a:cs typeface="+mn-lt"/>
              </a:rPr>
              <a:t> </a:t>
            </a:r>
            <a:r>
              <a:rPr lang="ru-RU" sz="1800" err="1">
                <a:ea typeface="+mn-lt"/>
                <a:cs typeface="+mn-lt"/>
              </a:rPr>
              <a:t>requirements</a:t>
            </a:r>
            <a:r>
              <a:rPr lang="ru-RU" sz="1800">
                <a:ea typeface="+mn-lt"/>
                <a:cs typeface="+mn-lt"/>
              </a:rPr>
              <a:t>) являются подмножеством функциональных требований к ИС. Это наиболее важные, существенные требования, которые относятся в целом к системе и не содержат избыточной детализации.</a:t>
            </a:r>
            <a:endParaRPr lang="ru-RU" sz="1800">
              <a:cs typeface="Calibri" panose="020F0502020204030204"/>
            </a:endParaRPr>
          </a:p>
          <a:p>
            <a:r>
              <a:rPr lang="ru-RU" sz="1800">
                <a:ea typeface="+mn-lt"/>
                <a:cs typeface="+mn-lt"/>
              </a:rPr>
              <a:t>Различаются:</a:t>
            </a:r>
            <a:endParaRPr lang="ru-RU" sz="1800">
              <a:cs typeface="Calibri"/>
            </a:endParaRPr>
          </a:p>
          <a:p>
            <a:r>
              <a:rPr lang="ru-RU" sz="1800">
                <a:ea typeface="+mn-lt"/>
                <a:cs typeface="+mn-lt"/>
              </a:rPr>
              <a:t>- общие системные требования к ИС;</a:t>
            </a:r>
            <a:endParaRPr lang="ru-RU" sz="1800">
              <a:cs typeface="Calibri"/>
            </a:endParaRPr>
          </a:p>
          <a:p>
            <a:r>
              <a:rPr lang="ru-RU" sz="1800">
                <a:ea typeface="+mn-lt"/>
                <a:cs typeface="+mn-lt"/>
              </a:rPr>
              <a:t>- требования к программному обеспечению, как подмножеству системных требований, направленных исключительно на программные компоненты системы.</a:t>
            </a:r>
            <a:endParaRPr lang="ru-RU" sz="1800">
              <a:cs typeface="Calibri"/>
            </a:endParaRPr>
          </a:p>
          <a:p>
            <a:r>
              <a:rPr lang="ru-RU" sz="1800">
                <a:ea typeface="+mn-lt"/>
                <a:cs typeface="+mn-lt"/>
              </a:rPr>
              <a:t>В практике компьютерной инженерии бытует более узкий подход: под системными требованиями понимается требования, выдвигаемые прикладной программной системой (в частности - информационной) к среде своего функционирования (системной, аппаратной). Пример таких требований:</a:t>
            </a:r>
            <a:endParaRPr lang="ru-RU" sz="1800">
              <a:cs typeface="Calibri"/>
            </a:endParaRPr>
          </a:p>
          <a:p>
            <a:r>
              <a:rPr lang="ru-RU" sz="1800">
                <a:ea typeface="+mn-lt"/>
                <a:cs typeface="+mn-lt"/>
              </a:rPr>
              <a:t>- тактовая частота процессора,</a:t>
            </a:r>
            <a:endParaRPr lang="ru-RU" sz="1800">
              <a:cs typeface="Calibri"/>
            </a:endParaRPr>
          </a:p>
          <a:p>
            <a:r>
              <a:rPr lang="ru-RU" sz="1800">
                <a:ea typeface="+mn-lt"/>
                <a:cs typeface="+mn-lt"/>
              </a:rPr>
              <a:t>- объем памяти,</a:t>
            </a:r>
            <a:endParaRPr lang="ru-RU" sz="1800">
              <a:cs typeface="Calibri"/>
            </a:endParaRPr>
          </a:p>
          <a:p>
            <a:r>
              <a:rPr lang="ru-RU" sz="1800">
                <a:ea typeface="+mn-lt"/>
                <a:cs typeface="+mn-lt"/>
              </a:rPr>
              <a:t>- требования к выбору операционной системы и т.д.</a:t>
            </a:r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221907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ABEC64-574C-974C-36C7-5CD56207D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ru-RU" sz="2800">
                <a:solidFill>
                  <a:srgbClr val="FFFFFF"/>
                </a:solidFill>
              </a:rPr>
              <a:t>Функциональные, нефункциональные требования и характеристики продукта</a:t>
            </a:r>
          </a:p>
          <a:p>
            <a:endParaRPr lang="ru-RU" sz="2800">
              <a:solidFill>
                <a:srgbClr val="FFFFFF"/>
              </a:solidFill>
              <a:cs typeface="Calibri Light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4FFF8E-F2C1-2E65-3161-2C210A34D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847" y="-4579"/>
            <a:ext cx="7512182" cy="67481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ru-RU" sz="1500" i="1" u="sng">
                <a:ea typeface="+mn-lt"/>
                <a:cs typeface="+mn-lt"/>
              </a:rPr>
              <a:t>Функциональные требования</a:t>
            </a:r>
            <a:r>
              <a:rPr lang="ru-RU" sz="1500">
                <a:ea typeface="+mn-lt"/>
                <a:cs typeface="+mn-lt"/>
              </a:rPr>
              <a:t> регламентируют функционирование или поведение системы (</a:t>
            </a:r>
            <a:r>
              <a:rPr lang="ru-RU" sz="1500" err="1">
                <a:ea typeface="+mn-lt"/>
                <a:cs typeface="+mn-lt"/>
              </a:rPr>
              <a:t>behavioral</a:t>
            </a:r>
            <a:r>
              <a:rPr lang="ru-RU" sz="1500">
                <a:ea typeface="+mn-lt"/>
                <a:cs typeface="+mn-lt"/>
              </a:rPr>
              <a:t> </a:t>
            </a:r>
            <a:r>
              <a:rPr lang="ru-RU" sz="1500" err="1">
                <a:ea typeface="+mn-lt"/>
                <a:cs typeface="+mn-lt"/>
              </a:rPr>
              <a:t>requirements</a:t>
            </a:r>
            <a:r>
              <a:rPr lang="ru-RU" sz="1500">
                <a:ea typeface="+mn-lt"/>
                <a:cs typeface="+mn-lt"/>
              </a:rPr>
              <a:t>) и отвечают на вопрос "что должна делать система" в тех или иных ситуациях. Функциональные требования определяют для Разработчика цели, задачи и сервисы, предоставляемые системой Заказчику.</a:t>
            </a:r>
            <a:endParaRPr lang="ru-RU" sz="1500">
              <a:cs typeface="Calibri"/>
            </a:endParaRPr>
          </a:p>
          <a:p>
            <a:pPr>
              <a:buNone/>
            </a:pPr>
            <a:r>
              <a:rPr lang="ru-RU" sz="1500">
                <a:ea typeface="+mn-lt"/>
                <a:cs typeface="+mn-lt"/>
              </a:rPr>
              <a:t>Функциональные требования записываются:</a:t>
            </a:r>
            <a:endParaRPr lang="ru-RU" sz="1500">
              <a:cs typeface="Calibri"/>
            </a:endParaRPr>
          </a:p>
          <a:p>
            <a:pPr>
              <a:buNone/>
            </a:pPr>
            <a:r>
              <a:rPr lang="ru-RU" sz="1500">
                <a:ea typeface="+mn-lt"/>
                <a:cs typeface="+mn-lt"/>
              </a:rPr>
              <a:t>- как правило, при посредстве предписывающих правил: "система должна позволять кладовщику формировать приходные и расходные накладные".</a:t>
            </a:r>
            <a:endParaRPr lang="ru-RU" sz="1500">
              <a:cs typeface="Calibri"/>
            </a:endParaRPr>
          </a:p>
          <a:p>
            <a:pPr>
              <a:buNone/>
            </a:pPr>
            <a:r>
              <a:rPr lang="ru-RU" sz="1500">
                <a:ea typeface="+mn-lt"/>
                <a:cs typeface="+mn-lt"/>
              </a:rPr>
              <a:t>- другим способом являются так называемые варианты использования (</a:t>
            </a:r>
            <a:r>
              <a:rPr lang="ru-RU" sz="1500" err="1">
                <a:ea typeface="+mn-lt"/>
                <a:cs typeface="+mn-lt"/>
              </a:rPr>
              <a:t>uses</a:t>
            </a:r>
            <a:r>
              <a:rPr lang="ru-RU" sz="1500">
                <a:ea typeface="+mn-lt"/>
                <a:cs typeface="+mn-lt"/>
              </a:rPr>
              <a:t> </a:t>
            </a:r>
            <a:r>
              <a:rPr lang="ru-RU" sz="1500" err="1">
                <a:ea typeface="+mn-lt"/>
                <a:cs typeface="+mn-lt"/>
              </a:rPr>
              <a:t>cases</a:t>
            </a:r>
            <a:r>
              <a:rPr lang="ru-RU" sz="1500">
                <a:ea typeface="+mn-lt"/>
                <a:cs typeface="+mn-lt"/>
              </a:rPr>
              <a:t>).</a:t>
            </a:r>
            <a:endParaRPr lang="ru-RU" sz="1500">
              <a:cs typeface="Calibri"/>
            </a:endParaRPr>
          </a:p>
          <a:p>
            <a:pPr>
              <a:buNone/>
            </a:pPr>
            <a:r>
              <a:rPr lang="ru-RU" sz="1500">
                <a:ea typeface="+mn-lt"/>
                <a:cs typeface="+mn-lt"/>
              </a:rPr>
              <a:t>Это - основной, определяющий вид требований.</a:t>
            </a:r>
            <a:endParaRPr lang="ru-RU" sz="1500">
              <a:cs typeface="Calibri"/>
            </a:endParaRPr>
          </a:p>
          <a:p>
            <a:pPr>
              <a:buNone/>
            </a:pPr>
            <a:r>
              <a:rPr lang="ru-RU" sz="1500" i="1">
                <a:ea typeface="+mn-lt"/>
                <a:cs typeface="+mn-lt"/>
              </a:rPr>
              <a:t>Характеристика продукта</a:t>
            </a:r>
            <a:r>
              <a:rPr lang="ru-RU" sz="1500">
                <a:ea typeface="+mn-lt"/>
                <a:cs typeface="+mn-lt"/>
              </a:rPr>
              <a:t> - это подмножество важнейших логически связанных функциональных требований, которые обеспечивают возможности пользователя и удовлетворяют бизнес-цели.</a:t>
            </a:r>
            <a:endParaRPr lang="ru-RU" sz="1500">
              <a:cs typeface="Calibri"/>
            </a:endParaRPr>
          </a:p>
          <a:p>
            <a:pPr>
              <a:buNone/>
            </a:pPr>
            <a:r>
              <a:rPr lang="ru-RU" sz="1500" i="1" u="sng">
                <a:ea typeface="+mn-lt"/>
                <a:cs typeface="+mn-lt"/>
              </a:rPr>
              <a:t>Нефункциональные требования</a:t>
            </a:r>
            <a:r>
              <a:rPr lang="ru-RU" sz="1500" i="1">
                <a:ea typeface="+mn-lt"/>
                <a:cs typeface="+mn-lt"/>
              </a:rPr>
              <a:t>,</a:t>
            </a:r>
            <a:r>
              <a:rPr lang="ru-RU" sz="1500">
                <a:ea typeface="+mn-lt"/>
                <a:cs typeface="+mn-lt"/>
              </a:rPr>
              <a:t> соответственно, регламентируют внутренние и внешние условия или атрибуты функционирования системы.</a:t>
            </a:r>
            <a:endParaRPr lang="ru-RU" sz="1500">
              <a:cs typeface="Calibri"/>
            </a:endParaRPr>
          </a:p>
          <a:p>
            <a:pPr>
              <a:buNone/>
            </a:pPr>
            <a:r>
              <a:rPr lang="ru-RU" sz="1500">
                <a:ea typeface="+mn-lt"/>
                <a:cs typeface="+mn-lt"/>
              </a:rPr>
              <a:t>Основные группы нефункциональных требований:</a:t>
            </a:r>
            <a:endParaRPr lang="ru-RU" sz="1500">
              <a:cs typeface="Calibri"/>
            </a:endParaRPr>
          </a:p>
          <a:p>
            <a:pPr>
              <a:buFont typeface="Arial"/>
              <a:buChar char="•"/>
            </a:pPr>
            <a:r>
              <a:rPr lang="ru-RU" sz="1500">
                <a:ea typeface="+mn-lt"/>
                <a:cs typeface="+mn-lt"/>
              </a:rPr>
              <a:t>Внешние интерфейсы (</a:t>
            </a:r>
            <a:r>
              <a:rPr lang="ru-RU" sz="1500" err="1">
                <a:ea typeface="+mn-lt"/>
                <a:cs typeface="+mn-lt"/>
              </a:rPr>
              <a:t>External</a:t>
            </a:r>
            <a:r>
              <a:rPr lang="ru-RU" sz="1500">
                <a:ea typeface="+mn-lt"/>
                <a:cs typeface="+mn-lt"/>
              </a:rPr>
              <a:t> </a:t>
            </a:r>
            <a:r>
              <a:rPr lang="ru-RU" sz="1500" err="1">
                <a:ea typeface="+mn-lt"/>
                <a:cs typeface="+mn-lt"/>
              </a:rPr>
              <a:t>Interfaces</a:t>
            </a:r>
            <a:r>
              <a:rPr lang="ru-RU" sz="1500">
                <a:ea typeface="+mn-lt"/>
                <a:cs typeface="+mn-lt"/>
              </a:rPr>
              <a:t>),</a:t>
            </a:r>
            <a:endParaRPr lang="ru-RU" sz="1500">
              <a:cs typeface="Calibri"/>
            </a:endParaRPr>
          </a:p>
          <a:p>
            <a:pPr>
              <a:buFont typeface="Arial"/>
              <a:buChar char="•"/>
            </a:pPr>
            <a:r>
              <a:rPr lang="ru-RU" sz="1500">
                <a:ea typeface="+mn-lt"/>
                <a:cs typeface="+mn-lt"/>
              </a:rPr>
              <a:t>Атрибуты качества (Quality </a:t>
            </a:r>
            <a:r>
              <a:rPr lang="ru-RU" sz="1500" err="1">
                <a:ea typeface="+mn-lt"/>
                <a:cs typeface="+mn-lt"/>
              </a:rPr>
              <a:t>Attributes</a:t>
            </a:r>
            <a:r>
              <a:rPr lang="ru-RU" sz="1500">
                <a:ea typeface="+mn-lt"/>
                <a:cs typeface="+mn-lt"/>
              </a:rPr>
              <a:t>),</a:t>
            </a:r>
            <a:endParaRPr lang="ru-RU" sz="1500">
              <a:cs typeface="Calibri"/>
            </a:endParaRPr>
          </a:p>
          <a:p>
            <a:pPr>
              <a:buFont typeface="Arial"/>
              <a:buChar char="•"/>
            </a:pPr>
            <a:r>
              <a:rPr lang="ru-RU" sz="1500">
                <a:ea typeface="+mn-lt"/>
                <a:cs typeface="+mn-lt"/>
              </a:rPr>
              <a:t>Ограничения (</a:t>
            </a:r>
            <a:r>
              <a:rPr lang="ru-RU" sz="1500" err="1">
                <a:ea typeface="+mn-lt"/>
                <a:cs typeface="+mn-lt"/>
              </a:rPr>
              <a:t>Constraints</a:t>
            </a:r>
            <a:r>
              <a:rPr lang="ru-RU" sz="1500">
                <a:ea typeface="+mn-lt"/>
                <a:cs typeface="+mn-lt"/>
              </a:rPr>
              <a:t>).</a:t>
            </a:r>
            <a:endParaRPr lang="ru-RU" sz="1500">
              <a:cs typeface="Calibri"/>
            </a:endParaRPr>
          </a:p>
          <a:p>
            <a:pPr>
              <a:buFont typeface="Arial"/>
              <a:buChar char="•"/>
            </a:pPr>
            <a:endParaRPr lang="ru-RU" sz="1500"/>
          </a:p>
        </p:txBody>
      </p:sp>
    </p:spTree>
    <p:extLst>
      <p:ext uri="{BB962C8B-B14F-4D97-AF65-F5344CB8AC3E}">
        <p14:creationId xmlns:p14="http://schemas.microsoft.com/office/powerpoint/2010/main" val="1537358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B0B842-C4CB-F356-1F99-FB638BC5E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3400" dirty="0">
                <a:solidFill>
                  <a:srgbClr val="FFFFFF"/>
                </a:solidFill>
              </a:rPr>
              <a:t>Классификация RUP</a:t>
            </a:r>
          </a:p>
          <a:p>
            <a:pPr algn="r"/>
            <a:endParaRPr lang="ru-RU" sz="3400">
              <a:solidFill>
                <a:srgbClr val="FFFFFF"/>
              </a:solidFill>
              <a:cs typeface="Calibri Ligh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12C83D-4078-9264-4204-6167705A8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7798" y="43788"/>
            <a:ext cx="8128192" cy="6806277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endParaRPr lang="ru-RU" sz="1600" dirty="0">
              <a:cs typeface="Calibri" panose="020F0502020204030204"/>
            </a:endParaRPr>
          </a:p>
          <a:p>
            <a:pPr algn="just">
              <a:buNone/>
            </a:pPr>
            <a:r>
              <a:rPr lang="ru-RU" sz="1600" dirty="0">
                <a:ea typeface="+mn-lt"/>
                <a:cs typeface="+mn-lt"/>
              </a:rPr>
              <a:t> спецификациях </a:t>
            </a:r>
            <a:r>
              <a:rPr lang="ru-RU" sz="1600" dirty="0" err="1">
                <a:ea typeface="+mn-lt"/>
                <a:cs typeface="+mn-lt"/>
              </a:rPr>
              <a:t>Rational</a:t>
            </a:r>
            <a:r>
              <a:rPr lang="ru-RU" sz="1600" dirty="0">
                <a:ea typeface="+mn-lt"/>
                <a:cs typeface="+mn-lt"/>
              </a:rPr>
              <a:t> Unified Process при классификации требований используется модель FURPS+ со ссылкой на стандарт IEEE </a:t>
            </a:r>
            <a:r>
              <a:rPr lang="ru-RU" sz="1600" dirty="0" err="1">
                <a:ea typeface="+mn-lt"/>
                <a:cs typeface="+mn-lt"/>
              </a:rPr>
              <a:t>Std</a:t>
            </a:r>
            <a:r>
              <a:rPr lang="ru-RU" sz="1600" dirty="0">
                <a:ea typeface="+mn-lt"/>
                <a:cs typeface="+mn-lt"/>
              </a:rPr>
              <a:t> 610.12.1990.</a:t>
            </a:r>
            <a:endParaRPr lang="ru-RU" sz="1600">
              <a:cs typeface="Calibri"/>
            </a:endParaRPr>
          </a:p>
          <a:p>
            <a:pPr algn="just">
              <a:buNone/>
            </a:pPr>
            <a:r>
              <a:rPr lang="ru-RU" sz="1600" dirty="0">
                <a:ea typeface="+mn-lt"/>
                <a:cs typeface="+mn-lt"/>
              </a:rPr>
              <a:t>Акроним FURPS обозначает следующие категории требований: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 err="1">
                <a:ea typeface="+mn-lt"/>
                <a:cs typeface="+mn-lt"/>
              </a:rPr>
              <a:t>Functionality</a:t>
            </a:r>
            <a:r>
              <a:rPr lang="ru-RU" sz="1600" dirty="0">
                <a:ea typeface="+mn-lt"/>
                <a:cs typeface="+mn-lt"/>
              </a:rPr>
              <a:t> (Функциональность) ;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 err="1">
                <a:ea typeface="+mn-lt"/>
                <a:cs typeface="+mn-lt"/>
              </a:rPr>
              <a:t>Usability</a:t>
            </a:r>
            <a:r>
              <a:rPr lang="ru-RU" sz="1600" dirty="0">
                <a:ea typeface="+mn-lt"/>
                <a:cs typeface="+mn-lt"/>
              </a:rPr>
              <a:t> (Применимость);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 err="1">
                <a:ea typeface="+mn-lt"/>
                <a:cs typeface="+mn-lt"/>
              </a:rPr>
              <a:t>Reliability</a:t>
            </a:r>
            <a:r>
              <a:rPr lang="ru-RU" sz="1600" dirty="0">
                <a:ea typeface="+mn-lt"/>
                <a:cs typeface="+mn-lt"/>
              </a:rPr>
              <a:t> (Надежность) ;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>
                <a:ea typeface="+mn-lt"/>
                <a:cs typeface="+mn-lt"/>
              </a:rPr>
              <a:t>Performance (Производительность) ;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 err="1">
                <a:ea typeface="+mn-lt"/>
                <a:cs typeface="+mn-lt"/>
              </a:rPr>
              <a:t>Supportability</a:t>
            </a:r>
            <a:r>
              <a:rPr lang="ru-RU" sz="1600" dirty="0">
                <a:ea typeface="+mn-lt"/>
                <a:cs typeface="+mn-lt"/>
              </a:rPr>
              <a:t> (эксплуатационная пригодность).</a:t>
            </a:r>
            <a:endParaRPr lang="ru-RU" sz="1600">
              <a:cs typeface="Calibri"/>
            </a:endParaRPr>
          </a:p>
          <a:p>
            <a:pPr indent="0" algn="just">
              <a:buNone/>
            </a:pPr>
            <a:r>
              <a:rPr lang="ru-RU" sz="1600" dirty="0">
                <a:ea typeface="+mn-lt"/>
                <a:cs typeface="+mn-lt"/>
              </a:rPr>
              <a:t>Символ "+" расширяет FURPS-модель, добавляя к ней: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>
                <a:ea typeface="+mn-lt"/>
                <a:cs typeface="+mn-lt"/>
              </a:rPr>
              <a:t>ограничения проекта,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>
                <a:ea typeface="+mn-lt"/>
                <a:cs typeface="+mn-lt"/>
              </a:rPr>
              <a:t>требования выполнения,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>
                <a:ea typeface="+mn-lt"/>
                <a:cs typeface="+mn-lt"/>
              </a:rPr>
              <a:t>требования к интерфейсу,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>
                <a:ea typeface="+mn-lt"/>
                <a:cs typeface="+mn-lt"/>
              </a:rPr>
              <a:t>физические требования.</a:t>
            </a:r>
            <a:endParaRPr lang="ru-RU" sz="1600">
              <a:cs typeface="Calibri"/>
            </a:endParaRPr>
          </a:p>
          <a:p>
            <a:pPr indent="0" algn="just">
              <a:buNone/>
            </a:pPr>
            <a:r>
              <a:rPr lang="ru-RU" sz="1600" dirty="0">
                <a:ea typeface="+mn-lt"/>
                <a:cs typeface="+mn-lt"/>
              </a:rPr>
              <a:t>Кроме того, в спецификациях RUP выделяются такие категории требований, как: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>
                <a:ea typeface="+mn-lt"/>
                <a:cs typeface="+mn-lt"/>
              </a:rPr>
              <a:t>требования, указывающие на необходимость согласованности с некоторыми юридическими и нормативными актами;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>
                <a:ea typeface="+mn-lt"/>
                <a:cs typeface="+mn-lt"/>
              </a:rPr>
              <a:t>требования к лицензированию;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>
                <a:ea typeface="+mn-lt"/>
                <a:cs typeface="+mn-lt"/>
              </a:rPr>
              <a:t>требования к документированию.</a:t>
            </a:r>
            <a:endParaRPr lang="ru-RU" sz="1600" dirty="0">
              <a:cs typeface="Calibri" panose="020F0502020204030204"/>
            </a:endParaRPr>
          </a:p>
          <a:p>
            <a:pPr marL="0" indent="0">
              <a:buNone/>
            </a:pPr>
            <a:endParaRPr lang="ru-RU" sz="16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46724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9D4988-153C-6A22-360E-32F52CBCB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Спасибо за внимание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02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Office Theme</vt:lpstr>
      <vt:lpstr>Программное обеспечение и его классификации требований</vt:lpstr>
      <vt:lpstr>ПО(Программное обеспечение) - это совокупность программ, хранящихся на устройствах долговременной памяти компьютера и предназначенных для массового использования.</vt:lpstr>
      <vt:lpstr>Требования</vt:lpstr>
      <vt:lpstr>Классификация требований </vt:lpstr>
      <vt:lpstr>Требования к продукту и процессу </vt:lpstr>
      <vt:lpstr>Уровни требований </vt:lpstr>
      <vt:lpstr>Системные требования и требования к программному обеспечению </vt:lpstr>
      <vt:lpstr>Функциональные, нефункциональные требования и характеристики продукта </vt:lpstr>
      <vt:lpstr>Классификация RUP 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93</cp:revision>
  <dcterms:created xsi:type="dcterms:W3CDTF">2023-01-18T17:39:10Z</dcterms:created>
  <dcterms:modified xsi:type="dcterms:W3CDTF">2023-01-20T03:47:06Z</dcterms:modified>
</cp:coreProperties>
</file>